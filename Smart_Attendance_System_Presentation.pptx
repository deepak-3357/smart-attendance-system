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5" r:id="rId6"/>
    <p:sldId id="260" r:id="rId7"/>
    <p:sldId id="261" r:id="rId8"/>
    <p:sldId id="262" r:id="rId9"/>
    <p:sldId id="263" r:id="rId10"/>
    <p:sldId id="264" r:id="rId11"/>
    <p:sldId id="265" r:id="rId12"/>
    <p:sldId id="266" r:id="rId13"/>
    <p:sldId id="268" r:id="rId14"/>
    <p:sldId id="277" r:id="rId15"/>
    <p:sldId id="267" r:id="rId16"/>
    <p:sldId id="269" r:id="rId17"/>
    <p:sldId id="274" r:id="rId18"/>
    <p:sldId id="272" r:id="rId19"/>
    <p:sldId id="273" r:id="rId2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img0.png"/>
          <p:cNvPicPr>
            <a:picLocks noChangeAspect="1"/>
          </p:cNvPicPr>
          <p:nvPr/>
        </p:nvPicPr>
        <p:blipFill>
          <a:blip r:embed="rId2"/>
          <a:stretch>
            <a:fillRect/>
          </a:stretch>
        </p:blipFill>
        <p:spPr>
          <a:xfrm>
            <a:off x="1417320" y="265176"/>
            <a:ext cx="9354312" cy="1014984"/>
          </a:xfrm>
          <a:prstGeom prst="rect">
            <a:avLst/>
          </a:prstGeom>
        </p:spPr>
      </p:pic>
      <p:sp>
        <p:nvSpPr>
          <p:cNvPr id="3" name="TextBox 2"/>
          <p:cNvSpPr txBox="1"/>
          <p:nvPr/>
        </p:nvSpPr>
        <p:spPr>
          <a:xfrm>
            <a:off x="4416552" y="1719072"/>
            <a:ext cx="3355848" cy="457200"/>
          </a:xfrm>
          <a:prstGeom prst="rect">
            <a:avLst/>
          </a:prstGeom>
          <a:noFill/>
        </p:spPr>
        <p:txBody>
          <a:bodyPr wrap="none">
            <a:spAutoFit/>
          </a:bodyPr>
          <a:lstStyle/>
          <a:p>
            <a:pPr algn="ctr"/>
            <a:r>
              <a:rPr sz="2400" b="1">
                <a:solidFill>
                  <a:srgbClr val="1A3C6E"/>
                </a:solidFill>
                <a:latin typeface="Times New Roman"/>
              </a:rPr>
              <a:t>CAPSTONE PROJECT</a:t>
            </a:r>
          </a:p>
        </p:txBody>
      </p:sp>
      <p:sp>
        <p:nvSpPr>
          <p:cNvPr id="4" name="TextBox 3"/>
          <p:cNvSpPr txBox="1"/>
          <p:nvPr/>
        </p:nvSpPr>
        <p:spPr>
          <a:xfrm>
            <a:off x="0" y="2185416"/>
            <a:ext cx="12188952" cy="1463040"/>
          </a:xfrm>
          <a:prstGeom prst="rect">
            <a:avLst/>
          </a:prstGeom>
          <a:noFill/>
        </p:spPr>
        <p:txBody>
          <a:bodyPr wrap="square">
            <a:spAutoFit/>
          </a:bodyPr>
          <a:lstStyle/>
          <a:p>
            <a:pPr algn="ctr"/>
            <a:r>
              <a:rPr sz="3200" b="1">
                <a:solidFill>
                  <a:srgbClr val="FF0000"/>
                </a:solidFill>
                <a:latin typeface="Times New Roman"/>
              </a:rPr>
              <a:t>SMART ATTENDANCE MANAGEMENT SYSTEM WITH FACE RECOGNITION, LIVENESS DETECTION AND ATTENDANCE ANALYTICS USING C++ AND OPENCV</a:t>
            </a:r>
          </a:p>
        </p:txBody>
      </p:sp>
      <p:sp>
        <p:nvSpPr>
          <p:cNvPr id="5" name="TextBox 4"/>
          <p:cNvSpPr txBox="1"/>
          <p:nvPr/>
        </p:nvSpPr>
        <p:spPr>
          <a:xfrm>
            <a:off x="1527048" y="3813048"/>
            <a:ext cx="9144000" cy="369332"/>
          </a:xfrm>
          <a:prstGeom prst="rect">
            <a:avLst/>
          </a:prstGeom>
          <a:noFill/>
        </p:spPr>
        <p:txBody>
          <a:bodyPr wrap="square">
            <a:spAutoFit/>
          </a:bodyPr>
          <a:lstStyle/>
          <a:p>
            <a:pPr algn="ctr"/>
            <a:r>
              <a:rPr sz="1800" b="1" dirty="0">
                <a:solidFill>
                  <a:srgbClr val="002060"/>
                </a:solidFill>
                <a:latin typeface="Times New Roman"/>
              </a:rPr>
              <a:t>DSA0135-Object Oriented Programming for Real Time Applications</a:t>
            </a:r>
          </a:p>
        </p:txBody>
      </p:sp>
      <p:sp>
        <p:nvSpPr>
          <p:cNvPr id="6" name="TextBox 5"/>
          <p:cNvSpPr txBox="1"/>
          <p:nvPr/>
        </p:nvSpPr>
        <p:spPr>
          <a:xfrm>
            <a:off x="731520" y="5111496"/>
            <a:ext cx="4114800" cy="1371600"/>
          </a:xfrm>
          <a:prstGeom prst="rect">
            <a:avLst/>
          </a:prstGeom>
          <a:noFill/>
        </p:spPr>
        <p:txBody>
          <a:bodyPr wrap="square">
            <a:spAutoFit/>
          </a:bodyPr>
          <a:lstStyle/>
          <a:p>
            <a:r>
              <a:rPr sz="1400" b="1">
                <a:solidFill>
                  <a:srgbClr val="002060"/>
                </a:solidFill>
                <a:latin typeface="Times New Roman"/>
              </a:rPr>
              <a:t>UNDER THE SUPERVISION OF:</a:t>
            </a:r>
          </a:p>
          <a:p>
            <a:r>
              <a:rPr sz="1400">
                <a:solidFill>
                  <a:srgbClr val="2B2B2B"/>
                </a:solidFill>
                <a:latin typeface="Times New Roman"/>
              </a:rPr>
              <a:t>DR. R.SARASU</a:t>
            </a:r>
          </a:p>
          <a:p>
            <a:r>
              <a:rPr sz="1400">
                <a:solidFill>
                  <a:srgbClr val="2B2B2B"/>
                </a:solidFill>
                <a:latin typeface="Times New Roman"/>
              </a:rPr>
              <a:t>DR.SMITHA GL</a:t>
            </a:r>
          </a:p>
        </p:txBody>
      </p:sp>
      <p:sp>
        <p:nvSpPr>
          <p:cNvPr id="7" name="TextBox 6"/>
          <p:cNvSpPr txBox="1"/>
          <p:nvPr/>
        </p:nvSpPr>
        <p:spPr>
          <a:xfrm>
            <a:off x="6583680" y="5111496"/>
            <a:ext cx="5239512" cy="738664"/>
          </a:xfrm>
          <a:prstGeom prst="rect">
            <a:avLst/>
          </a:prstGeom>
          <a:noFill/>
        </p:spPr>
        <p:txBody>
          <a:bodyPr wrap="square">
            <a:spAutoFit/>
          </a:bodyPr>
          <a:lstStyle/>
          <a:p>
            <a:r>
              <a:rPr sz="1400" b="1" dirty="0">
                <a:solidFill>
                  <a:srgbClr val="002060"/>
                </a:solidFill>
                <a:latin typeface="Times New Roman"/>
              </a:rPr>
              <a:t>PRESENTED BY:</a:t>
            </a:r>
          </a:p>
          <a:p>
            <a:r>
              <a:rPr sz="1400" b="1" dirty="0">
                <a:solidFill>
                  <a:srgbClr val="2B2B2B"/>
                </a:solidFill>
                <a:latin typeface="Times New Roman"/>
              </a:rPr>
              <a:t>DEEPAK R (192511008)</a:t>
            </a:r>
          </a:p>
          <a:p>
            <a:r>
              <a:rPr sz="1400" b="1" dirty="0">
                <a:solidFill>
                  <a:srgbClr val="2B2B2B"/>
                </a:solidFill>
                <a:latin typeface="Times New Roman"/>
              </a:rPr>
              <a:t>EMAD MOHAMMED ABDULLAH FAROOQUI (192511019)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img0.png"/>
          <p:cNvPicPr>
            <a:picLocks noChangeAspect="1"/>
          </p:cNvPicPr>
          <p:nvPr/>
        </p:nvPicPr>
        <p:blipFill>
          <a:blip r:embed="rId2"/>
          <a:stretch>
            <a:fillRect/>
          </a:stretch>
        </p:blipFill>
        <p:spPr>
          <a:xfrm>
            <a:off x="1417320" y="265176"/>
            <a:ext cx="9354312" cy="1014984"/>
          </a:xfrm>
          <a:prstGeom prst="rect">
            <a:avLst/>
          </a:prstGeom>
        </p:spPr>
      </p:pic>
      <p:sp>
        <p:nvSpPr>
          <p:cNvPr id="3" name="TextBox 2"/>
          <p:cNvSpPr txBox="1"/>
          <p:nvPr/>
        </p:nvSpPr>
        <p:spPr>
          <a:xfrm>
            <a:off x="237744" y="1417320"/>
            <a:ext cx="11704320" cy="430887"/>
          </a:xfrm>
          <a:prstGeom prst="rect">
            <a:avLst/>
          </a:prstGeom>
          <a:noFill/>
        </p:spPr>
        <p:txBody>
          <a:bodyPr wrap="square">
            <a:spAutoFit/>
          </a:bodyPr>
          <a:lstStyle/>
          <a:p>
            <a:pPr algn="ctr"/>
            <a:r>
              <a:rPr lang="en-IN" sz="2200" b="1" u="sng" dirty="0">
                <a:solidFill>
                  <a:srgbClr val="1A3C6E"/>
                </a:solidFill>
                <a:latin typeface="Times New Roman"/>
              </a:rPr>
              <a:t>ABSTRACT</a:t>
            </a:r>
          </a:p>
        </p:txBody>
      </p:sp>
      <p:sp>
        <p:nvSpPr>
          <p:cNvPr id="4" name="TextBox 3"/>
          <p:cNvSpPr txBox="1"/>
          <p:nvPr/>
        </p:nvSpPr>
        <p:spPr>
          <a:xfrm>
            <a:off x="457199" y="1948753"/>
            <a:ext cx="11105535" cy="3782061"/>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Smart Attendance Management System is an intelligent solution designed to automate the attendance process using Face Recognition and Liveness Detection technologies. The system detects faces in real time using the Haar Cascade Classifier and identifies students through the LBPH (Local Binary Pattern Histogram) face recognition algorithm. To enhance security and prevent proxy attendance, a liveness detection mechanism verifies the presence of a real person before attendance is marked. The application includes modules for student registration, face dataset collection, model training, real-time face recognition, attendance logging, and attendance analytics. Attendance records are automatically stored in CSV files, and the analytics module generates summaries, percentages, and reports to monitor student participation. By eliminating manual attendance procedures, the system improves accuracy, reduces administrative workload, and provides a secure, efficient, and cost-effective solution for educational institutions.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img0.png"/>
          <p:cNvPicPr>
            <a:picLocks noChangeAspect="1"/>
          </p:cNvPicPr>
          <p:nvPr/>
        </p:nvPicPr>
        <p:blipFill>
          <a:blip r:embed="rId2"/>
          <a:stretch>
            <a:fillRect/>
          </a:stretch>
        </p:blipFill>
        <p:spPr>
          <a:xfrm>
            <a:off x="1417320" y="265176"/>
            <a:ext cx="9354312" cy="1014984"/>
          </a:xfrm>
          <a:prstGeom prst="rect">
            <a:avLst/>
          </a:prstGeom>
        </p:spPr>
      </p:pic>
      <p:sp>
        <p:nvSpPr>
          <p:cNvPr id="3" name="TextBox 2"/>
          <p:cNvSpPr txBox="1"/>
          <p:nvPr/>
        </p:nvSpPr>
        <p:spPr>
          <a:xfrm>
            <a:off x="237744" y="1417320"/>
            <a:ext cx="11704320" cy="523220"/>
          </a:xfrm>
          <a:prstGeom prst="rect">
            <a:avLst/>
          </a:prstGeom>
          <a:noFill/>
        </p:spPr>
        <p:txBody>
          <a:bodyPr wrap="square">
            <a:spAutoFit/>
          </a:bodyPr>
          <a:lstStyle/>
          <a:p>
            <a:pPr algn="ctr"/>
            <a:r>
              <a:rPr lang="en-IN" sz="2800" b="1" u="sng" dirty="0">
                <a:solidFill>
                  <a:srgbClr val="1A3C6E"/>
                </a:solidFill>
                <a:latin typeface="Times New Roman"/>
              </a:rPr>
              <a:t>INTRODUCTION</a:t>
            </a:r>
            <a:endParaRPr sz="2800" b="1" u="sng" dirty="0">
              <a:solidFill>
                <a:srgbClr val="1A3C6E"/>
              </a:solidFill>
              <a:latin typeface="Times New Roman"/>
            </a:endParaRPr>
          </a:p>
        </p:txBody>
      </p:sp>
      <p:sp>
        <p:nvSpPr>
          <p:cNvPr id="4" name="TextBox 3"/>
          <p:cNvSpPr txBox="1"/>
          <p:nvPr/>
        </p:nvSpPr>
        <p:spPr>
          <a:xfrm>
            <a:off x="457199" y="2194560"/>
            <a:ext cx="11233355" cy="378206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Attendance monitoring is essential for tracking student participation, engagement, and discipline.</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methods such as roll calls, registers, RFID cards, and QR codes are time-consuming and prone to errors.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Existing systems are vulnerable to proxy attendance and attendance fraud.</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Facial recognition is a reliable biometric technology due to unique facial features of individuals.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proposed system uses Haar Cascade for face detection and LBPH for face recognition.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Liveness detection is incorporated to prevent spoofing using photos or printed images.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Attendance is automatically recorded, stored digitally, and analyzed through reports and percentage calculations.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improves accuracy, reduces manual effort, minimizes fraud, and provides a scalable solution for educational institutions and workplaces.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img0.png"/>
          <p:cNvPicPr>
            <a:picLocks noChangeAspect="1"/>
          </p:cNvPicPr>
          <p:nvPr/>
        </p:nvPicPr>
        <p:blipFill>
          <a:blip r:embed="rId2"/>
          <a:stretch>
            <a:fillRect/>
          </a:stretch>
        </p:blipFill>
        <p:spPr>
          <a:xfrm>
            <a:off x="1417320" y="265176"/>
            <a:ext cx="9354312" cy="1014984"/>
          </a:xfrm>
          <a:prstGeom prst="rect">
            <a:avLst/>
          </a:prstGeom>
        </p:spPr>
      </p:pic>
      <p:sp>
        <p:nvSpPr>
          <p:cNvPr id="3" name="TextBox 2"/>
          <p:cNvSpPr txBox="1"/>
          <p:nvPr/>
        </p:nvSpPr>
        <p:spPr>
          <a:xfrm>
            <a:off x="237744" y="1417320"/>
            <a:ext cx="11704320" cy="640080"/>
          </a:xfrm>
          <a:prstGeom prst="rect">
            <a:avLst/>
          </a:prstGeom>
          <a:noFill/>
        </p:spPr>
        <p:txBody>
          <a:bodyPr wrap="square">
            <a:spAutoFit/>
          </a:bodyPr>
          <a:lstStyle/>
          <a:p>
            <a:pPr algn="ctr"/>
            <a:r>
              <a:rPr sz="2800" b="1" u="sng" dirty="0">
                <a:solidFill>
                  <a:srgbClr val="1A3C6E"/>
                </a:solidFill>
                <a:latin typeface="Times New Roman"/>
              </a:rPr>
              <a:t>PROBLEM STATEMENT</a:t>
            </a:r>
          </a:p>
        </p:txBody>
      </p:sp>
      <p:sp>
        <p:nvSpPr>
          <p:cNvPr id="4" name="TextBox 3"/>
          <p:cNvSpPr txBox="1"/>
          <p:nvPr/>
        </p:nvSpPr>
        <p:spPr>
          <a:xfrm>
            <a:off x="457200" y="2194560"/>
            <a:ext cx="6858000" cy="3884653"/>
          </a:xfrm>
          <a:prstGeom prst="rect">
            <a:avLst/>
          </a:prstGeom>
          <a:noFill/>
        </p:spPr>
        <p:txBody>
          <a:bodyPr wrap="square">
            <a:spAutoFit/>
          </a:bodyPr>
          <a:lstStyle/>
          <a:p>
            <a:pPr marL="285750" indent="-285750">
              <a:lnSpc>
                <a:spcPct val="150000"/>
              </a:lnSpc>
              <a:spcAft>
                <a:spcPts val="400"/>
              </a:spcAft>
              <a:buFont typeface="Arial" panose="020B0604020202020204" pitchFamily="34" charset="0"/>
              <a:buChar char="•"/>
            </a:pPr>
            <a:r>
              <a:rPr dirty="0">
                <a:solidFill>
                  <a:srgbClr val="2B2B2B"/>
                </a:solidFill>
                <a:latin typeface="Times New Roman"/>
              </a:rPr>
              <a:t>Traditional attendance systems, reliant on manual registers or cards, enable proxy marking with an estimated 20-30% fraud rate, compromising academic integrity. </a:t>
            </a:r>
            <a:endParaRPr lang="en-IN" dirty="0">
              <a:solidFill>
                <a:srgbClr val="2B2B2B"/>
              </a:solidFill>
              <a:latin typeface="Times New Roman"/>
            </a:endParaRPr>
          </a:p>
          <a:p>
            <a:pPr marL="285750" indent="-285750">
              <a:lnSpc>
                <a:spcPct val="150000"/>
              </a:lnSpc>
              <a:spcAft>
                <a:spcPts val="400"/>
              </a:spcAft>
              <a:buFont typeface="Arial" panose="020B0604020202020204" pitchFamily="34" charset="0"/>
              <a:buChar char="•"/>
            </a:pPr>
            <a:r>
              <a:rPr dirty="0">
                <a:solidFill>
                  <a:srgbClr val="2B2B2B"/>
                </a:solidFill>
                <a:latin typeface="Times New Roman"/>
              </a:rPr>
              <a:t>Existing RFID and QR-based attendance systems still permit proxy via card sharing, lacking real-time identity verification and taking 5-7 seconds per student to process. </a:t>
            </a:r>
            <a:endParaRPr lang="en-IN" dirty="0">
              <a:solidFill>
                <a:srgbClr val="2B2B2B"/>
              </a:solidFill>
              <a:latin typeface="Times New Roman"/>
            </a:endParaRPr>
          </a:p>
          <a:p>
            <a:pPr marL="285750" indent="-285750">
              <a:lnSpc>
                <a:spcPct val="150000"/>
              </a:lnSpc>
              <a:spcAft>
                <a:spcPts val="400"/>
              </a:spcAft>
              <a:buFont typeface="Arial" panose="020B0604020202020204" pitchFamily="34" charset="0"/>
              <a:buChar char="•"/>
            </a:pPr>
            <a:r>
              <a:rPr dirty="0">
                <a:solidFill>
                  <a:srgbClr val="2B2B2B"/>
                </a:solidFill>
                <a:latin typeface="Times New Roman"/>
              </a:rPr>
              <a:t>C++/OpenCV system integrates LBPH face recognition and eye-blink liveness detection, eliminating proxy attendance with 95% accuracy and logging attendance in under 2 seconds.</a:t>
            </a:r>
          </a:p>
        </p:txBody>
      </p:sp>
      <p:pic>
        <p:nvPicPr>
          <p:cNvPr id="5" name="Picture 4" descr="problem_statement_img.png"/>
          <p:cNvPicPr>
            <a:picLocks noChangeAspect="1"/>
          </p:cNvPicPr>
          <p:nvPr/>
        </p:nvPicPr>
        <p:blipFill>
          <a:blip r:embed="rId3"/>
          <a:stretch>
            <a:fillRect/>
          </a:stretch>
        </p:blipFill>
        <p:spPr>
          <a:xfrm>
            <a:off x="7589520" y="2194560"/>
            <a:ext cx="4297680" cy="3657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97B1E-E64D-CD7E-F2C6-4DC44D7DA6D3}"/>
            </a:ext>
          </a:extLst>
        </p:cNvPr>
        <p:cNvGrpSpPr/>
        <p:nvPr/>
      </p:nvGrpSpPr>
      <p:grpSpPr>
        <a:xfrm>
          <a:off x="0" y="0"/>
          <a:ext cx="0" cy="0"/>
          <a:chOff x="0" y="0"/>
          <a:chExt cx="0" cy="0"/>
        </a:xfrm>
      </p:grpSpPr>
      <p:pic>
        <p:nvPicPr>
          <p:cNvPr id="2" name="Picture 1" descr="slide1_img0.png">
            <a:extLst>
              <a:ext uri="{FF2B5EF4-FFF2-40B4-BE49-F238E27FC236}">
                <a16:creationId xmlns:a16="http://schemas.microsoft.com/office/drawing/2014/main" id="{B9BCC957-3A46-A7AE-B097-FD551553B2A5}"/>
              </a:ext>
            </a:extLst>
          </p:cNvPr>
          <p:cNvPicPr>
            <a:picLocks noChangeAspect="1"/>
          </p:cNvPicPr>
          <p:nvPr/>
        </p:nvPicPr>
        <p:blipFill>
          <a:blip r:embed="rId2"/>
          <a:stretch>
            <a:fillRect/>
          </a:stretch>
        </p:blipFill>
        <p:spPr>
          <a:xfrm>
            <a:off x="1417320" y="265176"/>
            <a:ext cx="9354312" cy="1014984"/>
          </a:xfrm>
          <a:prstGeom prst="rect">
            <a:avLst/>
          </a:prstGeom>
        </p:spPr>
      </p:pic>
      <p:sp>
        <p:nvSpPr>
          <p:cNvPr id="3" name="TextBox 2">
            <a:extLst>
              <a:ext uri="{FF2B5EF4-FFF2-40B4-BE49-F238E27FC236}">
                <a16:creationId xmlns:a16="http://schemas.microsoft.com/office/drawing/2014/main" id="{990D1CC9-271A-3459-0D34-28EB95F1A651}"/>
              </a:ext>
            </a:extLst>
          </p:cNvPr>
          <p:cNvSpPr txBox="1"/>
          <p:nvPr/>
        </p:nvSpPr>
        <p:spPr>
          <a:xfrm>
            <a:off x="237744" y="1417320"/>
            <a:ext cx="11704320" cy="523220"/>
          </a:xfrm>
          <a:prstGeom prst="rect">
            <a:avLst/>
          </a:prstGeom>
          <a:noFill/>
        </p:spPr>
        <p:txBody>
          <a:bodyPr wrap="square">
            <a:spAutoFit/>
          </a:bodyPr>
          <a:lstStyle/>
          <a:p>
            <a:pPr algn="ctr"/>
            <a:r>
              <a:rPr lang="en-IN" sz="2800" b="1" u="sng" dirty="0">
                <a:solidFill>
                  <a:srgbClr val="1A3C6E"/>
                </a:solidFill>
                <a:latin typeface="Times New Roman"/>
              </a:rPr>
              <a:t>OBJECTIVE</a:t>
            </a:r>
          </a:p>
        </p:txBody>
      </p:sp>
      <p:sp>
        <p:nvSpPr>
          <p:cNvPr id="4" name="TextBox 3">
            <a:extLst>
              <a:ext uri="{FF2B5EF4-FFF2-40B4-BE49-F238E27FC236}">
                <a16:creationId xmlns:a16="http://schemas.microsoft.com/office/drawing/2014/main" id="{29FAE540-DE89-8B16-C233-F2EC88EA203E}"/>
              </a:ext>
            </a:extLst>
          </p:cNvPr>
          <p:cNvSpPr txBox="1"/>
          <p:nvPr/>
        </p:nvSpPr>
        <p:spPr>
          <a:xfrm>
            <a:off x="457199" y="2194560"/>
            <a:ext cx="7438103" cy="3679854"/>
          </a:xfrm>
          <a:prstGeom prst="rect">
            <a:avLst/>
          </a:prstGeom>
          <a:noFill/>
        </p:spPr>
        <p:txBody>
          <a:bodyPr wrap="square">
            <a:spAutoFit/>
          </a:bodyPr>
          <a:lstStyle/>
          <a:p>
            <a:pPr marL="285750" indent="-285750" algn="just">
              <a:lnSpc>
                <a:spcPct val="150000"/>
              </a:lnSpc>
              <a:spcAft>
                <a:spcPts val="400"/>
              </a:spcAf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develop an automated attendance management system using facial recognition technology.</a:t>
            </a:r>
          </a:p>
          <a:p>
            <a:pPr marL="285750" indent="-285750" algn="just">
              <a:lnSpc>
                <a:spcPct val="150000"/>
              </a:lnSpc>
              <a:spcAft>
                <a:spcPts val="400"/>
              </a:spcAf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eliminate manual attendance marking and reduce human errors. </a:t>
            </a:r>
          </a:p>
          <a:p>
            <a:pPr marL="285750" indent="-285750" algn="just">
              <a:lnSpc>
                <a:spcPct val="150000"/>
              </a:lnSpc>
              <a:spcAft>
                <a:spcPts val="400"/>
              </a:spcAf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accurately identify students in real time using OpenCV and LBPH face recognition. </a:t>
            </a:r>
          </a:p>
          <a:p>
            <a:pPr marL="285750" indent="-285750" algn="just">
              <a:lnSpc>
                <a:spcPct val="150000"/>
              </a:lnSpc>
              <a:spcAft>
                <a:spcPts val="400"/>
              </a:spcAf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prevent proxy attendance through liveness detection and face verification. </a:t>
            </a:r>
          </a:p>
          <a:p>
            <a:pPr marL="285750" indent="-285750" algn="just">
              <a:lnSpc>
                <a:spcPct val="150000"/>
              </a:lnSpc>
              <a:spcAft>
                <a:spcPts val="400"/>
              </a:spcAf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automatically record attendance and generate reports for faculty. </a:t>
            </a:r>
          </a:p>
          <a:p>
            <a:pPr marL="285750" indent="-285750" algn="just">
              <a:lnSpc>
                <a:spcPct val="150000"/>
              </a:lnSpc>
              <a:spcAft>
                <a:spcPts val="400"/>
              </a:spcAf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provide analytics, attendance percentage calculation, and defaulter identification. </a:t>
            </a:r>
          </a:p>
          <a:p>
            <a:pPr marL="285750" indent="-285750" algn="just">
              <a:lnSpc>
                <a:spcPct val="150000"/>
              </a:lnSpc>
              <a:spcAft>
                <a:spcPts val="400"/>
              </a:spcAf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create a secure, efficient, and user-friendly attendance monitoring system</a:t>
            </a:r>
            <a:endParaRPr sz="1600" dirty="0">
              <a:solidFill>
                <a:srgbClr val="2B2B2B"/>
              </a:solidFill>
              <a:latin typeface="Times New Roman" panose="02020603050405020304" pitchFamily="18" charset="0"/>
              <a:cs typeface="Times New Roman" panose="02020603050405020304" pitchFamily="18" charset="0"/>
            </a:endParaRPr>
          </a:p>
        </p:txBody>
      </p:sp>
      <p:pic>
        <p:nvPicPr>
          <p:cNvPr id="11" name="Picture 10" descr="How AI Improves Facial Recognition ...">
            <a:extLst>
              <a:ext uri="{FF2B5EF4-FFF2-40B4-BE49-F238E27FC236}">
                <a16:creationId xmlns:a16="http://schemas.microsoft.com/office/drawing/2014/main" id="{E5ED7F8F-8893-646C-D0E3-1DEAFF7A4E19}"/>
              </a:ext>
            </a:extLst>
          </p:cNvPr>
          <p:cNvPicPr>
            <a:picLocks noChangeAspect="1"/>
          </p:cNvPicPr>
          <p:nvPr/>
        </p:nvPicPr>
        <p:blipFill>
          <a:blip r:embed="rId3"/>
          <a:stretch>
            <a:fillRect/>
          </a:stretch>
        </p:blipFill>
        <p:spPr>
          <a:xfrm>
            <a:off x="8066080" y="2559920"/>
            <a:ext cx="3665546" cy="2439254"/>
          </a:xfrm>
          <a:prstGeom prst="rect">
            <a:avLst/>
          </a:prstGeom>
        </p:spPr>
      </p:pic>
    </p:spTree>
    <p:extLst>
      <p:ext uri="{BB962C8B-B14F-4D97-AF65-F5344CB8AC3E}">
        <p14:creationId xmlns:p14="http://schemas.microsoft.com/office/powerpoint/2010/main" val="4160723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img0.png"/>
          <p:cNvPicPr>
            <a:picLocks noChangeAspect="1"/>
          </p:cNvPicPr>
          <p:nvPr/>
        </p:nvPicPr>
        <p:blipFill>
          <a:blip r:embed="rId2"/>
          <a:stretch>
            <a:fillRect/>
          </a:stretch>
        </p:blipFill>
        <p:spPr>
          <a:xfrm>
            <a:off x="1417320" y="265176"/>
            <a:ext cx="9354312" cy="1014984"/>
          </a:xfrm>
          <a:prstGeom prst="rect">
            <a:avLst/>
          </a:prstGeom>
        </p:spPr>
      </p:pic>
      <p:sp>
        <p:nvSpPr>
          <p:cNvPr id="3" name="TextBox 2"/>
          <p:cNvSpPr txBox="1"/>
          <p:nvPr/>
        </p:nvSpPr>
        <p:spPr>
          <a:xfrm>
            <a:off x="237744" y="1387824"/>
            <a:ext cx="11704320" cy="461665"/>
          </a:xfrm>
          <a:prstGeom prst="rect">
            <a:avLst/>
          </a:prstGeom>
          <a:noFill/>
        </p:spPr>
        <p:txBody>
          <a:bodyPr wrap="square">
            <a:spAutoFit/>
          </a:bodyPr>
          <a:lstStyle/>
          <a:p>
            <a:pPr algn="ctr"/>
            <a:r>
              <a:rPr lang="en-IN" sz="2400" b="1" u="sng" dirty="0">
                <a:solidFill>
                  <a:srgbClr val="1A3C6E"/>
                </a:solidFill>
                <a:latin typeface="Times New Roman"/>
              </a:rPr>
              <a:t>EXISTING SYSTEM</a:t>
            </a:r>
            <a:endParaRPr sz="2400" b="1" u="sng" dirty="0">
              <a:solidFill>
                <a:srgbClr val="1A3C6E"/>
              </a:solidFill>
              <a:latin typeface="Times New Roman"/>
            </a:endParaRPr>
          </a:p>
        </p:txBody>
      </p:sp>
      <p:sp>
        <p:nvSpPr>
          <p:cNvPr id="4" name="TextBox 3"/>
          <p:cNvSpPr txBox="1"/>
          <p:nvPr/>
        </p:nvSpPr>
        <p:spPr>
          <a:xfrm>
            <a:off x="419149" y="2115903"/>
            <a:ext cx="11341510" cy="3741409"/>
          </a:xfrm>
          <a:prstGeom prst="rect">
            <a:avLst/>
          </a:prstGeom>
          <a:noFill/>
        </p:spPr>
        <p:txBody>
          <a:bodyPr wrap="square">
            <a:spAutoFit/>
          </a:bodyPr>
          <a:lstStyle/>
          <a:p>
            <a:pPr>
              <a:lnSpc>
                <a:spcPct val="150000"/>
              </a:lnSpc>
            </a:pPr>
            <a:r>
              <a:rPr lang="en-IN" sz="1600" dirty="0">
                <a:latin typeface="Times New Roman" panose="02020603050405020304" pitchFamily="18" charset="0"/>
                <a:cs typeface="Times New Roman" panose="02020603050405020304" pitchFamily="18" charset="0"/>
              </a:rPr>
              <a:t>• Time-consuming attendance recording process.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High possibility of proxy attendance and impersonation.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Human errors during manual entry and report preparation.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Dependence on additional hardware such as RFID readers and fingerprint scanners.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Limited automation and data analytics features.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Difficulty in maintaining large attendance records.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Increased administrative workload for faculty members.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Lack of real-time attendance verification and monitoring.</a:t>
            </a:r>
          </a:p>
          <a:p>
            <a:pPr>
              <a:lnSpc>
                <a:spcPct val="150000"/>
              </a:lnSpc>
            </a:pPr>
            <a:r>
              <a:rPr lang="en-IN" sz="1600" dirty="0">
                <a:latin typeface="Times New Roman" panose="02020603050405020304" pitchFamily="18" charset="0"/>
                <a:cs typeface="Times New Roman" panose="02020603050405020304" pitchFamily="18" charset="0"/>
              </a:rPr>
              <a:t>Due to these limitations, there is a need for an intelligent, automated, and secure attendance management system capable of accurately identifying individuals while reducing manual effort and preventing attendance fraud.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img0.png"/>
          <p:cNvPicPr>
            <a:picLocks noChangeAspect="1"/>
          </p:cNvPicPr>
          <p:nvPr/>
        </p:nvPicPr>
        <p:blipFill>
          <a:blip r:embed="rId2"/>
          <a:stretch>
            <a:fillRect/>
          </a:stretch>
        </p:blipFill>
        <p:spPr>
          <a:xfrm>
            <a:off x="1417320" y="265176"/>
            <a:ext cx="9354312" cy="1014984"/>
          </a:xfrm>
          <a:prstGeom prst="rect">
            <a:avLst/>
          </a:prstGeom>
        </p:spPr>
      </p:pic>
      <p:sp>
        <p:nvSpPr>
          <p:cNvPr id="3" name="TextBox 2"/>
          <p:cNvSpPr txBox="1"/>
          <p:nvPr/>
        </p:nvSpPr>
        <p:spPr>
          <a:xfrm>
            <a:off x="237744" y="1417320"/>
            <a:ext cx="11704320" cy="461665"/>
          </a:xfrm>
          <a:prstGeom prst="rect">
            <a:avLst/>
          </a:prstGeom>
          <a:noFill/>
        </p:spPr>
        <p:txBody>
          <a:bodyPr wrap="square">
            <a:spAutoFit/>
          </a:bodyPr>
          <a:lstStyle/>
          <a:p>
            <a:pPr algn="ctr"/>
            <a:r>
              <a:rPr lang="en-IN" sz="2400" b="1" u="sng" dirty="0">
                <a:solidFill>
                  <a:srgbClr val="1A3C6E"/>
                </a:solidFill>
                <a:latin typeface="Times New Roman"/>
              </a:rPr>
              <a:t>PROPOSED SYSTEM</a:t>
            </a:r>
          </a:p>
        </p:txBody>
      </p:sp>
      <p:sp>
        <p:nvSpPr>
          <p:cNvPr id="4" name="TextBox 3"/>
          <p:cNvSpPr txBox="1"/>
          <p:nvPr/>
        </p:nvSpPr>
        <p:spPr>
          <a:xfrm>
            <a:off x="424065" y="2173953"/>
            <a:ext cx="11331677" cy="3372077"/>
          </a:xfrm>
          <a:prstGeom prst="rect">
            <a:avLst/>
          </a:prstGeom>
          <a:noFill/>
        </p:spPr>
        <p:txBody>
          <a:bodyPr wrap="square">
            <a:spAutoFit/>
          </a:bodyPr>
          <a:lstStyle/>
          <a:p>
            <a:pPr>
              <a:lnSpc>
                <a:spcPct val="150000"/>
              </a:lnSpc>
            </a:pPr>
            <a:r>
              <a:rPr lang="en-IN" sz="1600" dirty="0">
                <a:latin typeface="Times New Roman" panose="02020603050405020304" pitchFamily="18" charset="0"/>
                <a:cs typeface="Times New Roman" panose="02020603050405020304" pitchFamily="18" charset="0"/>
              </a:rPr>
              <a:t>• Automated attendance marking using face recognition.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Real-time face detection through webcam input.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Student registration and face dataset management.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LBPH-based facial recognition for identity verification.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Liveness detection to prevent proxy attendance.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Automatic attendance logging with date and timestamp.</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Duplicate attendance prevention mechanism.</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Attendance analytics and percentage calculation.</a:t>
            </a:r>
          </a:p>
          <a:p>
            <a:pPr>
              <a:lnSpc>
                <a:spcPct val="150000"/>
              </a:lnSpc>
            </a:pPr>
            <a:r>
              <a:rPr lang="en-IN" sz="1600" dirty="0">
                <a:latin typeface="Times New Roman" panose="02020603050405020304" pitchFamily="18" charset="0"/>
                <a:cs typeface="Times New Roman" panose="02020603050405020304" pitchFamily="18" charset="0"/>
              </a:rPr>
              <a:t>• Defaulter identification and report generation and secure, contactless, and user-friendly operation.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img0.png"/>
          <p:cNvPicPr>
            <a:picLocks noChangeAspect="1"/>
          </p:cNvPicPr>
          <p:nvPr/>
        </p:nvPicPr>
        <p:blipFill>
          <a:blip r:embed="rId2"/>
          <a:stretch>
            <a:fillRect/>
          </a:stretch>
        </p:blipFill>
        <p:spPr>
          <a:xfrm>
            <a:off x="1417320" y="265176"/>
            <a:ext cx="9354312" cy="1014984"/>
          </a:xfrm>
          <a:prstGeom prst="rect">
            <a:avLst/>
          </a:prstGeom>
        </p:spPr>
      </p:pic>
      <p:pic>
        <p:nvPicPr>
          <p:cNvPr id="5" name="Picture 4"/>
          <p:cNvPicPr>
            <a:picLocks noChangeAspect="1"/>
          </p:cNvPicPr>
          <p:nvPr/>
        </p:nvPicPr>
        <p:blipFill>
          <a:blip r:embed="rId3"/>
          <a:srcRect/>
          <a:stretch/>
        </p:blipFill>
        <p:spPr>
          <a:xfrm>
            <a:off x="2261262" y="1475862"/>
            <a:ext cx="7666299" cy="511086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img0.png"/>
          <p:cNvPicPr>
            <a:picLocks noChangeAspect="1"/>
          </p:cNvPicPr>
          <p:nvPr/>
        </p:nvPicPr>
        <p:blipFill>
          <a:blip r:embed="rId2"/>
          <a:stretch>
            <a:fillRect/>
          </a:stretch>
        </p:blipFill>
        <p:spPr>
          <a:xfrm>
            <a:off x="1417320" y="265176"/>
            <a:ext cx="9354312" cy="1014984"/>
          </a:xfrm>
          <a:prstGeom prst="rect">
            <a:avLst/>
          </a:prstGeom>
        </p:spPr>
      </p:pic>
      <p:sp>
        <p:nvSpPr>
          <p:cNvPr id="3" name="TextBox 2"/>
          <p:cNvSpPr txBox="1"/>
          <p:nvPr/>
        </p:nvSpPr>
        <p:spPr>
          <a:xfrm>
            <a:off x="237744" y="1417320"/>
            <a:ext cx="11704320" cy="461665"/>
          </a:xfrm>
          <a:prstGeom prst="rect">
            <a:avLst/>
          </a:prstGeom>
          <a:noFill/>
        </p:spPr>
        <p:txBody>
          <a:bodyPr wrap="square">
            <a:spAutoFit/>
          </a:bodyPr>
          <a:lstStyle/>
          <a:p>
            <a:pPr algn="ctr"/>
            <a:r>
              <a:rPr lang="en-IN" sz="2400" b="1" u="sng" dirty="0">
                <a:solidFill>
                  <a:srgbClr val="1A3C6E"/>
                </a:solidFill>
                <a:latin typeface="Times New Roman"/>
              </a:rPr>
              <a:t>MODULE 1: STUDENT REGISTRATION &amp; DATABASE MANAGEMENT</a:t>
            </a:r>
          </a:p>
        </p:txBody>
      </p:sp>
      <p:sp>
        <p:nvSpPr>
          <p:cNvPr id="4" name="TextBox 3"/>
          <p:cNvSpPr txBox="1"/>
          <p:nvPr/>
        </p:nvSpPr>
        <p:spPr>
          <a:xfrm>
            <a:off x="457200" y="2086406"/>
            <a:ext cx="7782232" cy="4955203"/>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Purpose: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To register students and maintain a centralized database that serves as the foundation for face recognition and attendance tracking.</a:t>
            </a:r>
          </a:p>
          <a:p>
            <a:r>
              <a:rPr lang="en-IN" sz="1600" b="1" dirty="0">
                <a:latin typeface="Times New Roman" panose="02020603050405020304" pitchFamily="18" charset="0"/>
                <a:cs typeface="Times New Roman" panose="02020603050405020304" pitchFamily="18" charset="0"/>
              </a:rPr>
              <a:t>Key Functions:</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Student Registration (Reg No &amp; Name) </a:t>
            </a:r>
          </a:p>
          <a:p>
            <a:r>
              <a:rPr lang="en-IN" sz="1600" dirty="0">
                <a:latin typeface="Times New Roman" panose="02020603050405020304" pitchFamily="18" charset="0"/>
                <a:cs typeface="Times New Roman" panose="02020603050405020304" pitchFamily="18" charset="0"/>
              </a:rPr>
              <a:t>Input Validation </a:t>
            </a:r>
          </a:p>
          <a:p>
            <a:r>
              <a:rPr lang="en-IN" sz="1600" dirty="0">
                <a:latin typeface="Times New Roman" panose="02020603050405020304" pitchFamily="18" charset="0"/>
                <a:cs typeface="Times New Roman" panose="02020603050405020304" pitchFamily="18" charset="0"/>
              </a:rPr>
              <a:t>Duplicate Entry Prevention </a:t>
            </a:r>
          </a:p>
          <a:p>
            <a:r>
              <a:rPr lang="en-IN" sz="1600" dirty="0">
                <a:latin typeface="Times New Roman" panose="02020603050405020304" pitchFamily="18" charset="0"/>
                <a:cs typeface="Times New Roman" panose="02020603050405020304" pitchFamily="18" charset="0"/>
              </a:rPr>
              <a:t>Student Search Functionality </a:t>
            </a:r>
          </a:p>
          <a:p>
            <a:r>
              <a:rPr lang="en-IN" sz="1600" dirty="0">
                <a:latin typeface="Times New Roman" panose="02020603050405020304" pitchFamily="18" charset="0"/>
                <a:cs typeface="Times New Roman" panose="02020603050405020304" pitchFamily="18" charset="0"/>
              </a:rPr>
              <a:t>View Registered Students </a:t>
            </a:r>
          </a:p>
          <a:p>
            <a:r>
              <a:rPr lang="en-IN" sz="1600" dirty="0">
                <a:latin typeface="Times New Roman" panose="02020603050405020304" pitchFamily="18" charset="0"/>
                <a:cs typeface="Times New Roman" panose="02020603050405020304" pitchFamily="18" charset="0"/>
              </a:rPr>
              <a:t>Database Management using CSV </a:t>
            </a:r>
          </a:p>
          <a:p>
            <a:r>
              <a:rPr lang="en-IN" sz="1600" b="1" dirty="0">
                <a:latin typeface="Times New Roman" panose="02020603050405020304" pitchFamily="18" charset="0"/>
                <a:cs typeface="Times New Roman" panose="02020603050405020304" pitchFamily="18" charset="0"/>
              </a:rPr>
              <a:t>Input:</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Register Number </a:t>
            </a:r>
          </a:p>
          <a:p>
            <a:r>
              <a:rPr lang="en-IN" sz="1600" dirty="0">
                <a:latin typeface="Times New Roman" panose="02020603050405020304" pitchFamily="18" charset="0"/>
                <a:cs typeface="Times New Roman" panose="02020603050405020304" pitchFamily="18" charset="0"/>
              </a:rPr>
              <a:t>Student Name</a:t>
            </a:r>
            <a:br>
              <a:rPr lang="en-IN" sz="1600" dirty="0">
                <a:latin typeface="Times New Roman" panose="02020603050405020304" pitchFamily="18" charset="0"/>
                <a:cs typeface="Times New Roman" panose="02020603050405020304" pitchFamily="18" charset="0"/>
              </a:rPr>
            </a:br>
            <a:r>
              <a:rPr lang="en-IN" sz="1600" b="1" dirty="0">
                <a:latin typeface="Times New Roman" panose="02020603050405020304" pitchFamily="18" charset="0"/>
                <a:cs typeface="Times New Roman" panose="02020603050405020304" pitchFamily="18" charset="0"/>
              </a:rPr>
              <a:t>Advantages: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Fast Student Registration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Prevents Duplicate Records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Easy Student Search</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Lightweight CSV Database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Provides Data for Face Recognition Module</a:t>
            </a:r>
          </a:p>
        </p:txBody>
      </p:sp>
      <p:sp>
        <p:nvSpPr>
          <p:cNvPr id="7" name="TextBox 6">
            <a:extLst>
              <a:ext uri="{FF2B5EF4-FFF2-40B4-BE49-F238E27FC236}">
                <a16:creationId xmlns:a16="http://schemas.microsoft.com/office/drawing/2014/main" id="{92A77781-9810-00C3-1F3C-95DA4A6D56E0}"/>
              </a:ext>
            </a:extLst>
          </p:cNvPr>
          <p:cNvSpPr txBox="1"/>
          <p:nvPr/>
        </p:nvSpPr>
        <p:spPr>
          <a:xfrm>
            <a:off x="8894064" y="2619041"/>
            <a:ext cx="2837561" cy="2554545"/>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Workflow:</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Student Details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Input Validation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Duplicate Check</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Store in students.csv</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Student Database Updated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img0.png"/>
          <p:cNvPicPr>
            <a:picLocks noChangeAspect="1"/>
          </p:cNvPicPr>
          <p:nvPr/>
        </p:nvPicPr>
        <p:blipFill>
          <a:blip r:embed="rId2"/>
          <a:stretch>
            <a:fillRect/>
          </a:stretch>
        </p:blipFill>
        <p:spPr>
          <a:xfrm>
            <a:off x="1417320" y="265176"/>
            <a:ext cx="9354312" cy="1014984"/>
          </a:xfrm>
          <a:prstGeom prst="rect">
            <a:avLst/>
          </a:prstGeom>
        </p:spPr>
      </p:pic>
      <p:sp>
        <p:nvSpPr>
          <p:cNvPr id="3" name="TextBox 2"/>
          <p:cNvSpPr txBox="1"/>
          <p:nvPr/>
        </p:nvSpPr>
        <p:spPr>
          <a:xfrm>
            <a:off x="237744" y="1417320"/>
            <a:ext cx="11704320" cy="461665"/>
          </a:xfrm>
          <a:prstGeom prst="rect">
            <a:avLst/>
          </a:prstGeom>
          <a:noFill/>
        </p:spPr>
        <p:txBody>
          <a:bodyPr wrap="square">
            <a:spAutoFit/>
          </a:bodyPr>
          <a:lstStyle/>
          <a:p>
            <a:pPr algn="ctr"/>
            <a:r>
              <a:rPr lang="en-IN" sz="2400" b="1" u="sng" dirty="0">
                <a:solidFill>
                  <a:srgbClr val="1A3C6E"/>
                </a:solidFill>
                <a:latin typeface="Times New Roman"/>
              </a:rPr>
              <a:t>MODULE 2 – FACE DATASET COLLECTION MODULE</a:t>
            </a:r>
          </a:p>
        </p:txBody>
      </p:sp>
      <p:sp>
        <p:nvSpPr>
          <p:cNvPr id="4" name="TextBox 3"/>
          <p:cNvSpPr txBox="1"/>
          <p:nvPr/>
        </p:nvSpPr>
        <p:spPr>
          <a:xfrm>
            <a:off x="495349" y="2016145"/>
            <a:ext cx="5728469" cy="4770537"/>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Purpose: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To capture multiple facial images of each registered student and create a dataset for training the face recognition model.</a:t>
            </a:r>
          </a:p>
          <a:p>
            <a:r>
              <a:rPr lang="en-IN" sz="1600" b="1" dirty="0">
                <a:latin typeface="Times New Roman" panose="02020603050405020304" pitchFamily="18" charset="0"/>
                <a:cs typeface="Times New Roman" panose="02020603050405020304" pitchFamily="18" charset="0"/>
              </a:rPr>
              <a:t>Key Functions:</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Webcam-based Face Capture </a:t>
            </a:r>
          </a:p>
          <a:p>
            <a:r>
              <a:rPr lang="en-IN" sz="1600" dirty="0">
                <a:latin typeface="Times New Roman" panose="02020603050405020304" pitchFamily="18" charset="0"/>
                <a:cs typeface="Times New Roman" panose="02020603050405020304" pitchFamily="18" charset="0"/>
              </a:rPr>
              <a:t>Face Detection using Haar Cascade </a:t>
            </a:r>
          </a:p>
          <a:p>
            <a:r>
              <a:rPr lang="en-IN" sz="1600" dirty="0">
                <a:latin typeface="Times New Roman" panose="02020603050405020304" pitchFamily="18" charset="0"/>
                <a:cs typeface="Times New Roman" panose="02020603050405020304" pitchFamily="18" charset="0"/>
              </a:rPr>
              <a:t>Automatic Image Cropping </a:t>
            </a:r>
          </a:p>
          <a:p>
            <a:r>
              <a:rPr lang="en-IN" sz="1600" dirty="0">
                <a:latin typeface="Times New Roman" panose="02020603050405020304" pitchFamily="18" charset="0"/>
                <a:cs typeface="Times New Roman" panose="02020603050405020304" pitchFamily="18" charset="0"/>
              </a:rPr>
              <a:t>Grayscale Conversion </a:t>
            </a:r>
          </a:p>
          <a:p>
            <a:r>
              <a:rPr lang="en-IN" sz="1600" dirty="0">
                <a:latin typeface="Times New Roman" panose="02020603050405020304" pitchFamily="18" charset="0"/>
                <a:cs typeface="Times New Roman" panose="02020603050405020304" pitchFamily="18" charset="0"/>
              </a:rPr>
              <a:t>Face Resizing (200×200) </a:t>
            </a:r>
          </a:p>
          <a:p>
            <a:r>
              <a:rPr lang="en-IN" sz="1600" dirty="0">
                <a:latin typeface="Times New Roman" panose="02020603050405020304" pitchFamily="18" charset="0"/>
                <a:cs typeface="Times New Roman" panose="02020603050405020304" pitchFamily="18" charset="0"/>
              </a:rPr>
              <a:t>Dataset Generation (100 Images per Student) </a:t>
            </a:r>
          </a:p>
          <a:p>
            <a:r>
              <a:rPr lang="en-IN" sz="1600" b="1" dirty="0">
                <a:latin typeface="Times New Roman" panose="02020603050405020304" pitchFamily="18" charset="0"/>
                <a:cs typeface="Times New Roman" panose="02020603050405020304" pitchFamily="18" charset="0"/>
              </a:rPr>
              <a:t>Input:</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Registered Student Reg No </a:t>
            </a:r>
          </a:p>
          <a:p>
            <a:r>
              <a:rPr lang="en-IN" sz="1600" dirty="0">
                <a:latin typeface="Times New Roman" panose="02020603050405020304" pitchFamily="18" charset="0"/>
                <a:cs typeface="Times New Roman" panose="02020603050405020304" pitchFamily="18" charset="0"/>
              </a:rPr>
              <a:t>Live Webcam Feed</a:t>
            </a:r>
          </a:p>
          <a:p>
            <a:r>
              <a:rPr lang="en-IN" sz="1600" b="1" dirty="0">
                <a:latin typeface="Times New Roman" panose="02020603050405020304" pitchFamily="18" charset="0"/>
                <a:cs typeface="Times New Roman" panose="02020603050405020304" pitchFamily="18" charset="0"/>
              </a:rPr>
              <a:t>Advantages: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Automated Dataset Creation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High-Quality Face Samples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Improves Recognition Accuracy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Supports Multiple Students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Creates Training Data for LBPH Model</a:t>
            </a:r>
          </a:p>
        </p:txBody>
      </p:sp>
      <p:sp>
        <p:nvSpPr>
          <p:cNvPr id="7" name="TextBox 6">
            <a:extLst>
              <a:ext uri="{FF2B5EF4-FFF2-40B4-BE49-F238E27FC236}">
                <a16:creationId xmlns:a16="http://schemas.microsoft.com/office/drawing/2014/main" id="{AA0F9B62-4C50-C3C0-C858-64366E17DCEB}"/>
              </a:ext>
            </a:extLst>
          </p:cNvPr>
          <p:cNvSpPr txBox="1"/>
          <p:nvPr/>
        </p:nvSpPr>
        <p:spPr>
          <a:xfrm>
            <a:off x="8225078" y="2687255"/>
            <a:ext cx="2546554" cy="3046988"/>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Workflow:</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Registered Student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Webcam Activation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Face Detection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Image Preprocessing</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Capture 100 Samples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Store in faces/ Folder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img0.png"/>
          <p:cNvPicPr>
            <a:picLocks noChangeAspect="1"/>
          </p:cNvPicPr>
          <p:nvPr/>
        </p:nvPicPr>
        <p:blipFill>
          <a:blip r:embed="rId2"/>
          <a:stretch>
            <a:fillRect/>
          </a:stretch>
        </p:blipFill>
        <p:spPr>
          <a:xfrm>
            <a:off x="1417320" y="265176"/>
            <a:ext cx="9354312" cy="1014984"/>
          </a:xfrm>
          <a:prstGeom prst="rect">
            <a:avLst/>
          </a:prstGeom>
        </p:spPr>
      </p:pic>
      <p:sp>
        <p:nvSpPr>
          <p:cNvPr id="3" name="TextBox 2"/>
          <p:cNvSpPr txBox="1"/>
          <p:nvPr/>
        </p:nvSpPr>
        <p:spPr>
          <a:xfrm>
            <a:off x="237744" y="1417320"/>
            <a:ext cx="11704320" cy="461665"/>
          </a:xfrm>
          <a:prstGeom prst="rect">
            <a:avLst/>
          </a:prstGeom>
          <a:noFill/>
        </p:spPr>
        <p:txBody>
          <a:bodyPr wrap="square">
            <a:spAutoFit/>
          </a:bodyPr>
          <a:lstStyle/>
          <a:p>
            <a:pPr algn="ctr"/>
            <a:r>
              <a:rPr lang="en-US" sz="2400" b="1" u="sng" dirty="0">
                <a:solidFill>
                  <a:srgbClr val="1A3C6E"/>
                </a:solidFill>
                <a:latin typeface="Times New Roman"/>
              </a:rPr>
              <a:t>MODULE 3 – FACE RECOGNITION MODEL TRAINING (LBPH)</a:t>
            </a:r>
          </a:p>
        </p:txBody>
      </p:sp>
      <p:sp>
        <p:nvSpPr>
          <p:cNvPr id="4" name="TextBox 3"/>
          <p:cNvSpPr txBox="1"/>
          <p:nvPr/>
        </p:nvSpPr>
        <p:spPr>
          <a:xfrm>
            <a:off x="1170305" y="2029173"/>
            <a:ext cx="6858000" cy="4770537"/>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Purpose: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To train the facial recognition model using the collected face dataset and generate a trained model (</a:t>
            </a:r>
            <a:r>
              <a:rPr lang="en-IN" sz="1600" dirty="0" err="1">
                <a:latin typeface="Times New Roman" panose="02020603050405020304" pitchFamily="18" charset="0"/>
                <a:cs typeface="Times New Roman" panose="02020603050405020304" pitchFamily="18" charset="0"/>
              </a:rPr>
              <a:t>trainer.yml</a:t>
            </a:r>
            <a:r>
              <a:rPr lang="en-IN" sz="1600" dirty="0">
                <a:latin typeface="Times New Roman" panose="02020603050405020304" pitchFamily="18" charset="0"/>
                <a:cs typeface="Times New Roman" panose="02020603050405020304" pitchFamily="18" charset="0"/>
              </a:rPr>
              <a:t>) for student identification.</a:t>
            </a:r>
          </a:p>
          <a:p>
            <a:r>
              <a:rPr lang="en-IN" sz="1600" b="1" dirty="0">
                <a:latin typeface="Times New Roman" panose="02020603050405020304" pitchFamily="18" charset="0"/>
                <a:cs typeface="Times New Roman" panose="02020603050405020304" pitchFamily="18" charset="0"/>
              </a:rPr>
              <a:t>Key Functions:</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Load Face Dataset Images </a:t>
            </a:r>
          </a:p>
          <a:p>
            <a:r>
              <a:rPr lang="en-IN" sz="1600" dirty="0">
                <a:latin typeface="Times New Roman" panose="02020603050405020304" pitchFamily="18" charset="0"/>
                <a:cs typeface="Times New Roman" panose="02020603050405020304" pitchFamily="18" charset="0"/>
              </a:rPr>
              <a:t>Extract Student Labels (Reg No) </a:t>
            </a:r>
          </a:p>
          <a:p>
            <a:r>
              <a:rPr lang="en-IN" sz="1600" dirty="0">
                <a:latin typeface="Times New Roman" panose="02020603050405020304" pitchFamily="18" charset="0"/>
                <a:cs typeface="Times New Roman" panose="02020603050405020304" pitchFamily="18" charset="0"/>
              </a:rPr>
              <a:t>Image Preprocessing </a:t>
            </a:r>
          </a:p>
          <a:p>
            <a:r>
              <a:rPr lang="en-IN" sz="1600" dirty="0">
                <a:latin typeface="Times New Roman" panose="02020603050405020304" pitchFamily="18" charset="0"/>
                <a:cs typeface="Times New Roman" panose="02020603050405020304" pitchFamily="18" charset="0"/>
              </a:rPr>
              <a:t>LBPH Model Training </a:t>
            </a:r>
          </a:p>
          <a:p>
            <a:r>
              <a:rPr lang="en-IN" sz="1600" dirty="0">
                <a:latin typeface="Times New Roman" panose="02020603050405020304" pitchFamily="18" charset="0"/>
                <a:cs typeface="Times New Roman" panose="02020603050405020304" pitchFamily="18" charset="0"/>
              </a:rPr>
              <a:t>Generate Trained Recognition Model </a:t>
            </a:r>
          </a:p>
          <a:p>
            <a:r>
              <a:rPr lang="en-IN" sz="1600" dirty="0">
                <a:latin typeface="Times New Roman" panose="02020603050405020304" pitchFamily="18" charset="0"/>
                <a:cs typeface="Times New Roman" panose="02020603050405020304" pitchFamily="18" charset="0"/>
              </a:rPr>
              <a:t>Save Model as </a:t>
            </a:r>
            <a:r>
              <a:rPr lang="en-IN" sz="1600" dirty="0" err="1">
                <a:latin typeface="Times New Roman" panose="02020603050405020304" pitchFamily="18" charset="0"/>
                <a:cs typeface="Times New Roman" panose="02020603050405020304" pitchFamily="18" charset="0"/>
              </a:rPr>
              <a:t>trainer.yml</a:t>
            </a:r>
            <a:r>
              <a:rPr lang="en-IN" sz="1600" dirty="0">
                <a:latin typeface="Times New Roman" panose="02020603050405020304" pitchFamily="18" charset="0"/>
                <a:cs typeface="Times New Roman" panose="02020603050405020304" pitchFamily="18" charset="0"/>
              </a:rPr>
              <a:t> </a:t>
            </a:r>
          </a:p>
          <a:p>
            <a:r>
              <a:rPr lang="en-IN" sz="1600" b="1" dirty="0">
                <a:latin typeface="Times New Roman" panose="02020603050405020304" pitchFamily="18" charset="0"/>
                <a:cs typeface="Times New Roman" panose="02020603050405020304" pitchFamily="18" charset="0"/>
              </a:rPr>
              <a:t>Input:</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Face Images from faces/ folder </a:t>
            </a:r>
          </a:p>
          <a:p>
            <a:r>
              <a:rPr lang="en-IN" sz="1600" dirty="0">
                <a:latin typeface="Times New Roman" panose="02020603050405020304" pitchFamily="18" charset="0"/>
                <a:cs typeface="Times New Roman" panose="02020603050405020304" pitchFamily="18" charset="0"/>
              </a:rPr>
              <a:t>Student Register Numbers</a:t>
            </a:r>
          </a:p>
          <a:p>
            <a:r>
              <a:rPr lang="en-IN" sz="1600" b="1" dirty="0">
                <a:latin typeface="Times New Roman" panose="02020603050405020304" pitchFamily="18" charset="0"/>
                <a:cs typeface="Times New Roman" panose="02020603050405020304" pitchFamily="18" charset="0"/>
              </a:rPr>
              <a:t>Advantages: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Fast Model Training</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Supports Multiple Students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Generates Reusable Model File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High Recognition Accuracy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Real-Time Performance</a:t>
            </a:r>
          </a:p>
        </p:txBody>
      </p:sp>
      <p:sp>
        <p:nvSpPr>
          <p:cNvPr id="7" name="TextBox 6">
            <a:extLst>
              <a:ext uri="{FF2B5EF4-FFF2-40B4-BE49-F238E27FC236}">
                <a16:creationId xmlns:a16="http://schemas.microsoft.com/office/drawing/2014/main" id="{4697BE7A-2A46-0B1F-1B69-3E293A9DBE44}"/>
              </a:ext>
            </a:extLst>
          </p:cNvPr>
          <p:cNvSpPr txBox="1"/>
          <p:nvPr/>
        </p:nvSpPr>
        <p:spPr>
          <a:xfrm>
            <a:off x="8750710" y="2635577"/>
            <a:ext cx="6096000" cy="3293209"/>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Workflow:</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Face Dataset (faces/)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Load Images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Preprocessing</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(Resize + Grayscale)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LBPH Training</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Generate </a:t>
            </a:r>
            <a:r>
              <a:rPr lang="en-IN" sz="1600" dirty="0" err="1">
                <a:latin typeface="Times New Roman" panose="02020603050405020304" pitchFamily="18" charset="0"/>
                <a:cs typeface="Times New Roman" panose="02020603050405020304" pitchFamily="18" charset="0"/>
              </a:rPr>
              <a:t>trainer.yml</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Ready for Recognition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img0.png"/>
          <p:cNvPicPr>
            <a:picLocks noChangeAspect="1"/>
          </p:cNvPicPr>
          <p:nvPr/>
        </p:nvPicPr>
        <p:blipFill>
          <a:blip r:embed="rId2"/>
          <a:stretch>
            <a:fillRect/>
          </a:stretch>
        </p:blipFill>
        <p:spPr>
          <a:xfrm>
            <a:off x="1417320" y="265176"/>
            <a:ext cx="9354312" cy="1014984"/>
          </a:xfrm>
          <a:prstGeom prst="rect">
            <a:avLst/>
          </a:prstGeom>
        </p:spPr>
      </p:pic>
      <p:sp>
        <p:nvSpPr>
          <p:cNvPr id="3" name="TextBox 2"/>
          <p:cNvSpPr txBox="1"/>
          <p:nvPr/>
        </p:nvSpPr>
        <p:spPr>
          <a:xfrm>
            <a:off x="237744" y="1417320"/>
            <a:ext cx="11704320" cy="430887"/>
          </a:xfrm>
          <a:prstGeom prst="rect">
            <a:avLst/>
          </a:prstGeom>
          <a:noFill/>
        </p:spPr>
        <p:txBody>
          <a:bodyPr wrap="square">
            <a:spAutoFit/>
          </a:bodyPr>
          <a:lstStyle/>
          <a:p>
            <a:pPr algn="ctr"/>
            <a:r>
              <a:rPr lang="en-IN" sz="2200" b="1" u="sng" dirty="0">
                <a:solidFill>
                  <a:srgbClr val="1A3C6E"/>
                </a:solidFill>
                <a:latin typeface="Times New Roman"/>
              </a:rPr>
              <a:t>ALGORITHM AND WORKFLOW</a:t>
            </a:r>
          </a:p>
        </p:txBody>
      </p:sp>
      <p:sp>
        <p:nvSpPr>
          <p:cNvPr id="4" name="TextBox 3"/>
          <p:cNvSpPr txBox="1"/>
          <p:nvPr/>
        </p:nvSpPr>
        <p:spPr>
          <a:xfrm>
            <a:off x="457200" y="1889754"/>
            <a:ext cx="11247120" cy="4770537"/>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1. Dataset Collection</a:t>
            </a:r>
          </a:p>
          <a:p>
            <a:r>
              <a:rPr lang="en-IN" sz="1600" dirty="0">
                <a:latin typeface="Times New Roman" panose="02020603050405020304" pitchFamily="18" charset="0"/>
                <a:cs typeface="Times New Roman" panose="02020603050405020304" pitchFamily="18" charset="0"/>
              </a:rPr>
              <a:t>     Captures 100 facial images per student using a webcam. Stores processed face images in the faces/ folder for training. </a:t>
            </a:r>
          </a:p>
          <a:p>
            <a:r>
              <a:rPr lang="en-IN" sz="1600" b="1" dirty="0">
                <a:latin typeface="Times New Roman" panose="02020603050405020304" pitchFamily="18" charset="0"/>
                <a:cs typeface="Times New Roman" panose="02020603050405020304" pitchFamily="18" charset="0"/>
              </a:rPr>
              <a:t>2. Training Process</a:t>
            </a:r>
          </a:p>
          <a:p>
            <a:r>
              <a:rPr lang="en-IN" sz="1600" dirty="0">
                <a:latin typeface="Times New Roman" panose="02020603050405020304" pitchFamily="18" charset="0"/>
                <a:cs typeface="Times New Roman" panose="02020603050405020304" pitchFamily="18" charset="0"/>
              </a:rPr>
              <a:t>      Uses the LBPH algorithm to train the face recognition model. Generates </a:t>
            </a:r>
            <a:r>
              <a:rPr lang="en-IN" sz="1600" dirty="0" err="1">
                <a:latin typeface="Times New Roman" panose="02020603050405020304" pitchFamily="18" charset="0"/>
                <a:cs typeface="Times New Roman" panose="02020603050405020304" pitchFamily="18" charset="0"/>
              </a:rPr>
              <a:t>trainer.yml</a:t>
            </a:r>
            <a:r>
              <a:rPr lang="en-IN" sz="1600" dirty="0">
                <a:latin typeface="Times New Roman" panose="02020603050405020304" pitchFamily="18" charset="0"/>
                <a:cs typeface="Times New Roman" panose="02020603050405020304" pitchFamily="18" charset="0"/>
              </a:rPr>
              <a:t> for student identification. </a:t>
            </a:r>
          </a:p>
          <a:p>
            <a:r>
              <a:rPr lang="en-IN" sz="1600" b="1" dirty="0">
                <a:latin typeface="Times New Roman" panose="02020603050405020304" pitchFamily="18" charset="0"/>
                <a:cs typeface="Times New Roman" panose="02020603050405020304" pitchFamily="18" charset="0"/>
              </a:rPr>
              <a:t>3. Recognition Process</a:t>
            </a:r>
          </a:p>
          <a:p>
            <a:r>
              <a:rPr lang="en-IN" sz="1600" dirty="0">
                <a:latin typeface="Times New Roman" panose="02020603050405020304" pitchFamily="18" charset="0"/>
                <a:cs typeface="Times New Roman" panose="02020603050405020304" pitchFamily="18" charset="0"/>
              </a:rPr>
              <a:t>      Detects faces using Haar Cascade and identifies students using LBPH. Verifies recognized faces before attendance marking. </a:t>
            </a:r>
          </a:p>
          <a:p>
            <a:r>
              <a:rPr lang="en-IN" sz="1600" b="1" dirty="0">
                <a:latin typeface="Times New Roman" panose="02020603050405020304" pitchFamily="18" charset="0"/>
                <a:cs typeface="Times New Roman" panose="02020603050405020304" pitchFamily="18" charset="0"/>
              </a:rPr>
              <a:t>4. Liveness Detection</a:t>
            </a:r>
          </a:p>
          <a:p>
            <a:r>
              <a:rPr lang="en-IN" sz="1600" dirty="0">
                <a:latin typeface="Times New Roman" panose="02020603050405020304" pitchFamily="18" charset="0"/>
                <a:cs typeface="Times New Roman" panose="02020603050405020304" pitchFamily="18" charset="0"/>
              </a:rPr>
              <a:t>      Detects eye blinks and facial movements to verify a live user. Prevents proxy attendance using photos or mobile screens. </a:t>
            </a:r>
          </a:p>
          <a:p>
            <a:r>
              <a:rPr lang="en-IN" sz="1600" b="1" dirty="0">
                <a:latin typeface="Times New Roman" panose="02020603050405020304" pitchFamily="18" charset="0"/>
                <a:cs typeface="Times New Roman" panose="02020603050405020304" pitchFamily="18" charset="0"/>
              </a:rPr>
              <a:t>5. Attendance Logging</a:t>
            </a:r>
          </a:p>
          <a:p>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Automatically records attendance with date and timestamp. Prevents duplicate attendance entries for the same day. </a:t>
            </a:r>
          </a:p>
          <a:p>
            <a:r>
              <a:rPr lang="en-IN" sz="1600" b="1" dirty="0">
                <a:latin typeface="Times New Roman" panose="02020603050405020304" pitchFamily="18" charset="0"/>
                <a:cs typeface="Times New Roman" panose="02020603050405020304" pitchFamily="18" charset="0"/>
              </a:rPr>
              <a:t>6. Analytics</a:t>
            </a:r>
          </a:p>
          <a:p>
            <a:r>
              <a:rPr lang="en-IN" sz="1600" dirty="0">
                <a:latin typeface="Times New Roman" panose="02020603050405020304" pitchFamily="18" charset="0"/>
                <a:cs typeface="Times New Roman" panose="02020603050405020304" pitchFamily="18" charset="0"/>
              </a:rPr>
              <a:t>    Calculates attendance percentage and present/absent statistics. Generates attendance summaries and performance reports. </a:t>
            </a:r>
          </a:p>
          <a:p>
            <a:r>
              <a:rPr lang="en-IN" sz="1600" b="1" dirty="0">
                <a:latin typeface="Times New Roman" panose="02020603050405020304" pitchFamily="18" charset="0"/>
                <a:cs typeface="Times New Roman" panose="02020603050405020304" pitchFamily="18" charset="0"/>
              </a:rPr>
              <a:t>7. Defaulter Prediction</a:t>
            </a:r>
          </a:p>
          <a:p>
            <a:r>
              <a:rPr lang="en-IN" sz="1600" dirty="0">
                <a:latin typeface="Times New Roman" panose="02020603050405020304" pitchFamily="18" charset="0"/>
                <a:cs typeface="Times New Roman" panose="02020603050405020304" pitchFamily="18" charset="0"/>
              </a:rPr>
              <a:t>    Identifies students below the attendance threshold (e.g., 75%). Helps faculty monitor and improve student participation. </a:t>
            </a:r>
          </a:p>
          <a:p>
            <a:r>
              <a:rPr lang="en-IN" sz="1600" b="1" dirty="0">
                <a:latin typeface="Times New Roman" panose="02020603050405020304" pitchFamily="18" charset="0"/>
                <a:cs typeface="Times New Roman" panose="02020603050405020304" pitchFamily="18" charset="0"/>
              </a:rPr>
              <a:t>8. Database Design</a:t>
            </a:r>
          </a:p>
          <a:p>
            <a:r>
              <a:rPr lang="en-IN" sz="1600" dirty="0">
                <a:latin typeface="Times New Roman" panose="02020603050405020304" pitchFamily="18" charset="0"/>
                <a:cs typeface="Times New Roman" panose="02020603050405020304" pitchFamily="18" charset="0"/>
              </a:rPr>
              <a:t>    students.csv stores student registration details. attendance.csv stores attendance records and timestamps. </a:t>
            </a:r>
          </a:p>
          <a:p>
            <a:r>
              <a:rPr lang="en-IN" sz="1600" b="1" dirty="0">
                <a:latin typeface="Times New Roman" panose="02020603050405020304" pitchFamily="18" charset="0"/>
                <a:cs typeface="Times New Roman" panose="02020603050405020304" pitchFamily="18" charset="0"/>
              </a:rPr>
              <a:t>9. Project Workflow</a:t>
            </a:r>
          </a:p>
          <a:p>
            <a:r>
              <a:rPr lang="en-IN" sz="1600" dirty="0">
                <a:latin typeface="Times New Roman" panose="02020603050405020304" pitchFamily="18" charset="0"/>
                <a:cs typeface="Times New Roman" panose="02020603050405020304" pitchFamily="18" charset="0"/>
              </a:rPr>
              <a:t>    Register Student → Capture Dataset → Train Model → Recognize Face. Verify Liveness → Mark Attendance → Generate Analytics    &amp; Reports.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img0.png"/>
          <p:cNvPicPr>
            <a:picLocks noChangeAspect="1"/>
          </p:cNvPicPr>
          <p:nvPr/>
        </p:nvPicPr>
        <p:blipFill>
          <a:blip r:embed="rId2"/>
          <a:stretch>
            <a:fillRect/>
          </a:stretch>
        </p:blipFill>
        <p:spPr>
          <a:xfrm>
            <a:off x="1412748" y="225064"/>
            <a:ext cx="9354312" cy="1014984"/>
          </a:xfrm>
          <a:prstGeom prst="rect">
            <a:avLst/>
          </a:prstGeom>
        </p:spPr>
      </p:pic>
      <p:sp>
        <p:nvSpPr>
          <p:cNvPr id="3" name="TextBox 2"/>
          <p:cNvSpPr txBox="1"/>
          <p:nvPr/>
        </p:nvSpPr>
        <p:spPr>
          <a:xfrm>
            <a:off x="237744" y="1279672"/>
            <a:ext cx="11704320" cy="523220"/>
          </a:xfrm>
          <a:prstGeom prst="rect">
            <a:avLst/>
          </a:prstGeom>
          <a:noFill/>
        </p:spPr>
        <p:txBody>
          <a:bodyPr wrap="square">
            <a:spAutoFit/>
          </a:bodyPr>
          <a:lstStyle/>
          <a:p>
            <a:pPr algn="ctr"/>
            <a:r>
              <a:rPr lang="en-IN" sz="2800" b="1" u="sng" dirty="0">
                <a:solidFill>
                  <a:srgbClr val="1A3C6E"/>
                </a:solidFill>
                <a:latin typeface="Times New Roman"/>
              </a:rPr>
              <a:t>CHALLENGES FACED</a:t>
            </a:r>
          </a:p>
        </p:txBody>
      </p:sp>
      <p:sp>
        <p:nvSpPr>
          <p:cNvPr id="4" name="TextBox 3"/>
          <p:cNvSpPr txBox="1"/>
          <p:nvPr/>
        </p:nvSpPr>
        <p:spPr>
          <a:xfrm>
            <a:off x="797691" y="1667404"/>
            <a:ext cx="10584426" cy="521873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OpenCV Installation &amp; Configuration</a:t>
            </a:r>
          </a:p>
          <a:p>
            <a:pPr marL="742950" lvl="1"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Configuring OpenCV and OpenCV-</a:t>
            </a:r>
            <a:r>
              <a:rPr lang="en-IN" sz="1600" dirty="0" err="1">
                <a:latin typeface="Times New Roman" panose="02020603050405020304" pitchFamily="18" charset="0"/>
                <a:cs typeface="Times New Roman" panose="02020603050405020304" pitchFamily="18" charset="0"/>
              </a:rPr>
              <a:t>Contrib</a:t>
            </a:r>
            <a:r>
              <a:rPr lang="en-IN" sz="1600" dirty="0">
                <a:latin typeface="Times New Roman" panose="02020603050405020304" pitchFamily="18" charset="0"/>
                <a:cs typeface="Times New Roman" panose="02020603050405020304" pitchFamily="18" charset="0"/>
              </a:rPr>
              <a:t> libraries in Visual Studio.  </a:t>
            </a:r>
          </a:p>
          <a:p>
            <a:pPr marL="28575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Face Dataset Collection</a:t>
            </a:r>
          </a:p>
          <a:p>
            <a:pPr marL="742950" lvl="1"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Capturing clear face images under different lighting conditions. </a:t>
            </a:r>
          </a:p>
          <a:p>
            <a:pPr marL="28575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Face Recognition Accuracy</a:t>
            </a:r>
          </a:p>
          <a:p>
            <a:pPr marL="742950" lvl="1"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Handling variations in facial expressions, pose, and illumination.  </a:t>
            </a:r>
          </a:p>
          <a:p>
            <a:pPr marL="28575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Unknown Face Detection</a:t>
            </a:r>
          </a:p>
          <a:p>
            <a:pPr marL="742950" lvl="1"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Preventing unregistered users from being recognized as registered students. </a:t>
            </a:r>
          </a:p>
          <a:p>
            <a:pPr marL="28575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Liveness Verification</a:t>
            </a:r>
          </a:p>
          <a:p>
            <a:pPr marL="742950" lvl="1"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Distinguishing real faces from photographs and mobile screen images. </a:t>
            </a:r>
          </a:p>
          <a:p>
            <a:pPr marL="28575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Attendance Management</a:t>
            </a:r>
          </a:p>
          <a:p>
            <a:pPr marL="742950" lvl="1"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Preventing duplicate attendance entries for the same student on the same day. </a:t>
            </a:r>
          </a:p>
          <a:p>
            <a:pPr marL="28575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Data Storage &amp; Management</a:t>
            </a:r>
          </a:p>
          <a:p>
            <a:pPr marL="742950" lvl="1"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Managing student and attendance records using CSV files.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B7F68-F9D2-B8D7-00E9-C79CEFCC1260}"/>
            </a:ext>
          </a:extLst>
        </p:cNvPr>
        <p:cNvGrpSpPr/>
        <p:nvPr/>
      </p:nvGrpSpPr>
      <p:grpSpPr>
        <a:xfrm>
          <a:off x="0" y="0"/>
          <a:ext cx="0" cy="0"/>
          <a:chOff x="0" y="0"/>
          <a:chExt cx="0" cy="0"/>
        </a:xfrm>
      </p:grpSpPr>
      <p:pic>
        <p:nvPicPr>
          <p:cNvPr id="2" name="Picture 1" descr="slide1_img0.png">
            <a:extLst>
              <a:ext uri="{FF2B5EF4-FFF2-40B4-BE49-F238E27FC236}">
                <a16:creationId xmlns:a16="http://schemas.microsoft.com/office/drawing/2014/main" id="{4064369E-F44C-6180-F261-F545226B65A8}"/>
              </a:ext>
            </a:extLst>
          </p:cNvPr>
          <p:cNvPicPr>
            <a:picLocks noChangeAspect="1"/>
          </p:cNvPicPr>
          <p:nvPr/>
        </p:nvPicPr>
        <p:blipFill>
          <a:blip r:embed="rId2"/>
          <a:stretch>
            <a:fillRect/>
          </a:stretch>
        </p:blipFill>
        <p:spPr>
          <a:xfrm>
            <a:off x="1417320" y="265176"/>
            <a:ext cx="9354312" cy="1014984"/>
          </a:xfrm>
          <a:prstGeom prst="rect">
            <a:avLst/>
          </a:prstGeom>
        </p:spPr>
      </p:pic>
      <p:sp>
        <p:nvSpPr>
          <p:cNvPr id="3" name="TextBox 2">
            <a:extLst>
              <a:ext uri="{FF2B5EF4-FFF2-40B4-BE49-F238E27FC236}">
                <a16:creationId xmlns:a16="http://schemas.microsoft.com/office/drawing/2014/main" id="{AF7637A5-D322-2549-24AC-1A4FB6791313}"/>
              </a:ext>
            </a:extLst>
          </p:cNvPr>
          <p:cNvSpPr txBox="1"/>
          <p:nvPr/>
        </p:nvSpPr>
        <p:spPr>
          <a:xfrm>
            <a:off x="237744" y="1417320"/>
            <a:ext cx="11704320" cy="461665"/>
          </a:xfrm>
          <a:prstGeom prst="rect">
            <a:avLst/>
          </a:prstGeom>
          <a:noFill/>
        </p:spPr>
        <p:txBody>
          <a:bodyPr wrap="square">
            <a:spAutoFit/>
          </a:bodyPr>
          <a:lstStyle/>
          <a:p>
            <a:pPr algn="ctr"/>
            <a:r>
              <a:rPr lang="en-IN" sz="2400" b="1" u="sng" dirty="0">
                <a:solidFill>
                  <a:srgbClr val="1A3C6E"/>
                </a:solidFill>
                <a:latin typeface="Times New Roman"/>
              </a:rPr>
              <a:t>APPLICATIONS</a:t>
            </a:r>
          </a:p>
        </p:txBody>
      </p:sp>
      <p:sp>
        <p:nvSpPr>
          <p:cNvPr id="4" name="TextBox 3">
            <a:extLst>
              <a:ext uri="{FF2B5EF4-FFF2-40B4-BE49-F238E27FC236}">
                <a16:creationId xmlns:a16="http://schemas.microsoft.com/office/drawing/2014/main" id="{ECB00429-4E7C-D1AB-E4ED-24182CAC3544}"/>
              </a:ext>
            </a:extLst>
          </p:cNvPr>
          <p:cNvSpPr txBox="1"/>
          <p:nvPr/>
        </p:nvSpPr>
        <p:spPr>
          <a:xfrm>
            <a:off x="581577" y="1995497"/>
            <a:ext cx="10499377" cy="374140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Educational Institutions</a:t>
            </a:r>
            <a:r>
              <a:rPr lang="en-IN" sz="1600" dirty="0">
                <a:latin typeface="Times New Roman" panose="02020603050405020304" pitchFamily="18" charset="0"/>
                <a:cs typeface="Times New Roman" panose="02020603050405020304" pitchFamily="18" charset="0"/>
              </a:rPr>
              <a:t> Schools, colleges, and universities for automated student attendance tracking. </a:t>
            </a:r>
          </a:p>
          <a:p>
            <a:pPr marL="28575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Corporate Offices</a:t>
            </a:r>
            <a:r>
              <a:rPr lang="en-IN" sz="1600" dirty="0">
                <a:latin typeface="Times New Roman" panose="02020603050405020304" pitchFamily="18" charset="0"/>
                <a:cs typeface="Times New Roman" panose="02020603050405020304" pitchFamily="18" charset="0"/>
              </a:rPr>
              <a:t> Employee attendance monitoring and workforce management. </a:t>
            </a:r>
          </a:p>
          <a:p>
            <a:pPr marL="28575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Training </a:t>
            </a:r>
            <a:r>
              <a:rPr lang="en-IN" sz="1600" b="1" dirty="0" err="1">
                <a:latin typeface="Times New Roman" panose="02020603050405020304" pitchFamily="18" charset="0"/>
                <a:cs typeface="Times New Roman" panose="02020603050405020304" pitchFamily="18" charset="0"/>
              </a:rPr>
              <a:t>Centers</a:t>
            </a:r>
            <a:r>
              <a:rPr lang="en-IN" sz="1600" dirty="0">
                <a:latin typeface="Times New Roman" panose="02020603050405020304" pitchFamily="18" charset="0"/>
                <a:cs typeface="Times New Roman" panose="02020603050405020304" pitchFamily="18" charset="0"/>
              </a:rPr>
              <a:t> Tracking attendance of trainees and participants during training sessions. </a:t>
            </a:r>
          </a:p>
          <a:p>
            <a:pPr marL="28575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Government Organizations</a:t>
            </a:r>
            <a:r>
              <a:rPr lang="en-IN" sz="1600" dirty="0">
                <a:latin typeface="Times New Roman" panose="02020603050405020304" pitchFamily="18" charset="0"/>
                <a:cs typeface="Times New Roman" panose="02020603050405020304" pitchFamily="18" charset="0"/>
              </a:rPr>
              <a:t> Monitoring staff attendance and improving administrative efficiency. </a:t>
            </a:r>
          </a:p>
          <a:p>
            <a:pPr marL="28575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Research Laboratories</a:t>
            </a:r>
            <a:r>
              <a:rPr lang="en-IN" sz="1600" dirty="0">
                <a:latin typeface="Times New Roman" panose="02020603050405020304" pitchFamily="18" charset="0"/>
                <a:cs typeface="Times New Roman" panose="02020603050405020304" pitchFamily="18" charset="0"/>
              </a:rPr>
              <a:t> Managing attendance of researchers, interns, and project members. </a:t>
            </a:r>
          </a:p>
          <a:p>
            <a:pPr marL="28575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Conferences and Seminars</a:t>
            </a:r>
            <a:r>
              <a:rPr lang="en-IN" sz="1600" dirty="0">
                <a:latin typeface="Times New Roman" panose="02020603050405020304" pitchFamily="18" charset="0"/>
                <a:cs typeface="Times New Roman" panose="02020603050405020304" pitchFamily="18" charset="0"/>
              </a:rPr>
              <a:t> Automated participant verification and attendance recording. </a:t>
            </a:r>
          </a:p>
          <a:p>
            <a:pPr marL="28575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Libraries and Study </a:t>
            </a:r>
            <a:r>
              <a:rPr lang="en-IN" sz="1600" b="1" dirty="0" err="1">
                <a:latin typeface="Times New Roman" panose="02020603050405020304" pitchFamily="18" charset="0"/>
                <a:cs typeface="Times New Roman" panose="02020603050405020304" pitchFamily="18" charset="0"/>
              </a:rPr>
              <a:t>Centers</a:t>
            </a:r>
            <a:r>
              <a:rPr lang="en-IN" sz="1600" dirty="0">
                <a:latin typeface="Times New Roman" panose="02020603050405020304" pitchFamily="18" charset="0"/>
                <a:cs typeface="Times New Roman" panose="02020603050405020304" pitchFamily="18" charset="0"/>
              </a:rPr>
              <a:t> Tracking visitor entry and attendance records. </a:t>
            </a:r>
          </a:p>
          <a:p>
            <a:pPr marL="28575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Healthcare Institutions</a:t>
            </a:r>
            <a:r>
              <a:rPr lang="en-IN" sz="1600" dirty="0">
                <a:latin typeface="Times New Roman" panose="02020603050405020304" pitchFamily="18" charset="0"/>
                <a:cs typeface="Times New Roman" panose="02020603050405020304" pitchFamily="18" charset="0"/>
              </a:rPr>
              <a:t> Monitoring attendance of doctors, nurses, and hospital staff. </a:t>
            </a:r>
          </a:p>
          <a:p>
            <a:pPr marL="28575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Industrial and Manufacturing Units</a:t>
            </a:r>
            <a:r>
              <a:rPr lang="en-IN" sz="1600" dirty="0">
                <a:latin typeface="Times New Roman" panose="02020603050405020304" pitchFamily="18" charset="0"/>
                <a:cs typeface="Times New Roman" panose="02020603050405020304" pitchFamily="18" charset="0"/>
              </a:rPr>
              <a:t> Employee attendance management and shift monitoring. </a:t>
            </a:r>
          </a:p>
          <a:p>
            <a:pPr marL="28575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Secure Access Control Systems</a:t>
            </a:r>
            <a:r>
              <a:rPr lang="en-IN" sz="1600" dirty="0">
                <a:latin typeface="Times New Roman" panose="02020603050405020304" pitchFamily="18" charset="0"/>
                <a:cs typeface="Times New Roman" panose="02020603050405020304" pitchFamily="18" charset="0"/>
              </a:rPr>
              <a:t> Face-based authentication for authorized entry into restricted areas.</a:t>
            </a:r>
          </a:p>
        </p:txBody>
      </p:sp>
    </p:spTree>
    <p:extLst>
      <p:ext uri="{BB962C8B-B14F-4D97-AF65-F5344CB8AC3E}">
        <p14:creationId xmlns:p14="http://schemas.microsoft.com/office/powerpoint/2010/main" val="4086508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img0.png"/>
          <p:cNvPicPr>
            <a:picLocks noChangeAspect="1"/>
          </p:cNvPicPr>
          <p:nvPr/>
        </p:nvPicPr>
        <p:blipFill>
          <a:blip r:embed="rId2"/>
          <a:stretch>
            <a:fillRect/>
          </a:stretch>
        </p:blipFill>
        <p:spPr>
          <a:xfrm>
            <a:off x="1417320" y="265176"/>
            <a:ext cx="9354312" cy="1014984"/>
          </a:xfrm>
          <a:prstGeom prst="rect">
            <a:avLst/>
          </a:prstGeom>
        </p:spPr>
      </p:pic>
      <p:sp>
        <p:nvSpPr>
          <p:cNvPr id="3" name="TextBox 2"/>
          <p:cNvSpPr txBox="1"/>
          <p:nvPr/>
        </p:nvSpPr>
        <p:spPr>
          <a:xfrm>
            <a:off x="237744" y="1417320"/>
            <a:ext cx="11704320" cy="461665"/>
          </a:xfrm>
          <a:prstGeom prst="rect">
            <a:avLst/>
          </a:prstGeom>
          <a:noFill/>
        </p:spPr>
        <p:txBody>
          <a:bodyPr wrap="square">
            <a:spAutoFit/>
          </a:bodyPr>
          <a:lstStyle/>
          <a:p>
            <a:pPr algn="ctr"/>
            <a:r>
              <a:rPr lang="en-IN" sz="2400" b="1" u="sng" dirty="0">
                <a:solidFill>
                  <a:srgbClr val="1A3C6E"/>
                </a:solidFill>
                <a:latin typeface="Times New Roman"/>
              </a:rPr>
              <a:t>CONCLUSION</a:t>
            </a:r>
          </a:p>
        </p:txBody>
      </p:sp>
      <p:sp>
        <p:nvSpPr>
          <p:cNvPr id="4" name="TextBox 3"/>
          <p:cNvSpPr txBox="1"/>
          <p:nvPr/>
        </p:nvSpPr>
        <p:spPr>
          <a:xfrm>
            <a:off x="581577" y="1995497"/>
            <a:ext cx="10499377" cy="3725635"/>
          </a:xfrm>
          <a:prstGeom prst="rect">
            <a:avLst/>
          </a:prstGeom>
          <a:noFill/>
        </p:spPr>
        <p:txBody>
          <a:bodyPr wrap="square">
            <a:spAutoFit/>
          </a:bodyPr>
          <a:lstStyle/>
          <a:p>
            <a:pPr marL="285750" indent="-285750" algn="just">
              <a:lnSpc>
                <a:spcPct val="150000"/>
              </a:lnSpc>
              <a:spcAft>
                <a:spcPts val="400"/>
              </a:spcAft>
              <a:buFont typeface="Arial" panose="020B0604020202020204" pitchFamily="34" charset="0"/>
              <a:buChar char="•"/>
            </a:pPr>
            <a:r>
              <a:rPr lang="en-US" dirty="0">
                <a:solidFill>
                  <a:srgbClr val="2B2B2B"/>
                </a:solidFill>
                <a:latin typeface="Times New Roman"/>
              </a:rPr>
              <a:t>Uses Haar Cascade, LBPH Face Recognition, and Liveness Detection.</a:t>
            </a:r>
          </a:p>
          <a:p>
            <a:pPr marL="285750" indent="-285750" algn="just">
              <a:lnSpc>
                <a:spcPct val="150000"/>
              </a:lnSpc>
              <a:spcAft>
                <a:spcPts val="400"/>
              </a:spcAft>
              <a:buFont typeface="Arial" panose="020B0604020202020204" pitchFamily="34" charset="0"/>
              <a:buChar char="•"/>
            </a:pPr>
            <a:r>
              <a:rPr lang="en-US" dirty="0">
                <a:solidFill>
                  <a:srgbClr val="2B2B2B"/>
                </a:solidFill>
                <a:latin typeface="Times New Roman"/>
              </a:rPr>
              <a:t>Provides secure, efficient, and contactless attendance recording.</a:t>
            </a:r>
          </a:p>
          <a:p>
            <a:pPr marL="285750" indent="-285750" algn="just">
              <a:lnSpc>
                <a:spcPct val="150000"/>
              </a:lnSpc>
              <a:spcAft>
                <a:spcPts val="400"/>
              </a:spcAft>
              <a:buFont typeface="Arial" panose="020B0604020202020204" pitchFamily="34" charset="0"/>
              <a:buChar char="•"/>
            </a:pPr>
            <a:r>
              <a:rPr lang="en-US" dirty="0">
                <a:solidFill>
                  <a:srgbClr val="2B2B2B"/>
                </a:solidFill>
                <a:latin typeface="Times New Roman"/>
              </a:rPr>
              <a:t>Automates registration, dataset collection, model training, and attendance logging.</a:t>
            </a:r>
          </a:p>
          <a:p>
            <a:pPr marL="285750" indent="-285750" algn="just">
              <a:lnSpc>
                <a:spcPct val="150000"/>
              </a:lnSpc>
              <a:spcAft>
                <a:spcPts val="400"/>
              </a:spcAft>
              <a:buFont typeface="Arial" panose="020B0604020202020204" pitchFamily="34" charset="0"/>
              <a:buChar char="•"/>
            </a:pPr>
            <a:r>
              <a:rPr lang="en-US" dirty="0">
                <a:solidFill>
                  <a:srgbClr val="2B2B2B"/>
                </a:solidFill>
                <a:latin typeface="Times New Roman"/>
              </a:rPr>
              <a:t>Reduces manual effort, proxy attendance, and duplicate entries.</a:t>
            </a:r>
          </a:p>
          <a:p>
            <a:pPr marL="285750" indent="-285750" algn="just">
              <a:lnSpc>
                <a:spcPct val="150000"/>
              </a:lnSpc>
              <a:spcAft>
                <a:spcPts val="400"/>
              </a:spcAft>
              <a:buFont typeface="Arial" panose="020B0604020202020204" pitchFamily="34" charset="0"/>
              <a:buChar char="•"/>
            </a:pPr>
            <a:r>
              <a:rPr lang="en-US" dirty="0">
                <a:solidFill>
                  <a:srgbClr val="2B2B2B"/>
                </a:solidFill>
                <a:latin typeface="Times New Roman"/>
              </a:rPr>
              <a:t>Generates attendance reports, percentages, and defaulter lists.</a:t>
            </a:r>
          </a:p>
          <a:p>
            <a:pPr marL="285750" indent="-285750" algn="just">
              <a:lnSpc>
                <a:spcPct val="150000"/>
              </a:lnSpc>
              <a:spcAft>
                <a:spcPts val="400"/>
              </a:spcAft>
              <a:buFont typeface="Arial" panose="020B0604020202020204" pitchFamily="34" charset="0"/>
              <a:buChar char="•"/>
            </a:pPr>
            <a:r>
              <a:rPr lang="en-US" dirty="0">
                <a:solidFill>
                  <a:srgbClr val="2B2B2B"/>
                </a:solidFill>
                <a:latin typeface="Times New Roman"/>
              </a:rPr>
              <a:t>Enables better monitoring of student participation and performance.</a:t>
            </a:r>
          </a:p>
          <a:p>
            <a:pPr marL="285750" indent="-285750" algn="just">
              <a:lnSpc>
                <a:spcPct val="150000"/>
              </a:lnSpc>
              <a:spcAft>
                <a:spcPts val="400"/>
              </a:spcAft>
              <a:buFont typeface="Arial" panose="020B0604020202020204" pitchFamily="34" charset="0"/>
              <a:buChar char="•"/>
            </a:pPr>
            <a:r>
              <a:rPr lang="en-US" dirty="0">
                <a:solidFill>
                  <a:srgbClr val="2B2B2B"/>
                </a:solidFill>
                <a:latin typeface="Times New Roman"/>
              </a:rPr>
              <a:t>Developed using C++ and OpenCV for fast and cost-effective operation.</a:t>
            </a:r>
          </a:p>
          <a:p>
            <a:pPr marL="285750" indent="-285750" algn="just">
              <a:lnSpc>
                <a:spcPct val="150000"/>
              </a:lnSpc>
              <a:spcAft>
                <a:spcPts val="400"/>
              </a:spcAft>
              <a:buFont typeface="Arial" panose="020B0604020202020204" pitchFamily="34" charset="0"/>
              <a:buChar char="•"/>
            </a:pPr>
            <a:r>
              <a:rPr lang="en-US" dirty="0">
                <a:solidFill>
                  <a:srgbClr val="2B2B2B"/>
                </a:solidFill>
                <a:latin typeface="Times New Roman"/>
              </a:rPr>
              <a:t>Can be enhanced with deep learning, cloud integration, mobile apps, and multi-camera support.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img0.png"/>
          <p:cNvPicPr>
            <a:picLocks noChangeAspect="1"/>
          </p:cNvPicPr>
          <p:nvPr/>
        </p:nvPicPr>
        <p:blipFill>
          <a:blip r:embed="rId2"/>
          <a:stretch>
            <a:fillRect/>
          </a:stretch>
        </p:blipFill>
        <p:spPr>
          <a:xfrm>
            <a:off x="1417320" y="265176"/>
            <a:ext cx="9354312" cy="1014984"/>
          </a:xfrm>
          <a:prstGeom prst="rect">
            <a:avLst/>
          </a:prstGeom>
        </p:spPr>
      </p:pic>
      <p:sp>
        <p:nvSpPr>
          <p:cNvPr id="3" name="TextBox 2"/>
          <p:cNvSpPr txBox="1"/>
          <p:nvPr/>
        </p:nvSpPr>
        <p:spPr>
          <a:xfrm>
            <a:off x="237744" y="1417320"/>
            <a:ext cx="11704320" cy="430887"/>
          </a:xfrm>
          <a:prstGeom prst="rect">
            <a:avLst/>
          </a:prstGeom>
          <a:noFill/>
        </p:spPr>
        <p:txBody>
          <a:bodyPr wrap="square">
            <a:spAutoFit/>
          </a:bodyPr>
          <a:lstStyle/>
          <a:p>
            <a:pPr algn="ctr"/>
            <a:r>
              <a:rPr lang="en-IN" sz="2200" b="1" u="sng" dirty="0">
                <a:solidFill>
                  <a:srgbClr val="1A3C6E"/>
                </a:solidFill>
                <a:latin typeface="Times New Roman"/>
              </a:rPr>
              <a:t>FUTURE SCOPE</a:t>
            </a:r>
          </a:p>
        </p:txBody>
      </p:sp>
      <p:sp>
        <p:nvSpPr>
          <p:cNvPr id="4" name="TextBox 3"/>
          <p:cNvSpPr txBox="1"/>
          <p:nvPr/>
        </p:nvSpPr>
        <p:spPr>
          <a:xfrm>
            <a:off x="526026" y="2040979"/>
            <a:ext cx="11125200" cy="448007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Deep Learning-Based Face Recognition</a:t>
            </a:r>
            <a:endParaRPr lang="en-IN" sz="1600" dirty="0">
              <a:latin typeface="Times New Roman" panose="02020603050405020304" pitchFamily="18" charset="0"/>
              <a:cs typeface="Times New Roman" panose="02020603050405020304" pitchFamily="18" charset="0"/>
            </a:endParaRPr>
          </a:p>
          <a:p>
            <a:pPr lvl="1" algn="just">
              <a:lnSpc>
                <a:spcPct val="150000"/>
              </a:lnSpc>
            </a:pPr>
            <a:r>
              <a:rPr lang="en-IN" sz="1600" dirty="0">
                <a:latin typeface="Times New Roman" panose="02020603050405020304" pitchFamily="18" charset="0"/>
                <a:cs typeface="Times New Roman" panose="02020603050405020304" pitchFamily="18" charset="0"/>
              </a:rPr>
              <a:t>Replace LBPH with </a:t>
            </a:r>
            <a:r>
              <a:rPr lang="en-IN" sz="1600" dirty="0" err="1">
                <a:latin typeface="Times New Roman" panose="02020603050405020304" pitchFamily="18" charset="0"/>
                <a:cs typeface="Times New Roman" panose="02020603050405020304" pitchFamily="18" charset="0"/>
              </a:rPr>
              <a:t>FaceNet</a:t>
            </a:r>
            <a:r>
              <a:rPr lang="en-IN" sz="1600" dirty="0">
                <a:latin typeface="Times New Roman" panose="02020603050405020304" pitchFamily="18" charset="0"/>
                <a:cs typeface="Times New Roman" panose="02020603050405020304" pitchFamily="18" charset="0"/>
              </a:rPr>
              <a:t> or </a:t>
            </a:r>
            <a:r>
              <a:rPr lang="en-IN" sz="1600" dirty="0" err="1">
                <a:latin typeface="Times New Roman" panose="02020603050405020304" pitchFamily="18" charset="0"/>
                <a:cs typeface="Times New Roman" panose="02020603050405020304" pitchFamily="18" charset="0"/>
              </a:rPr>
              <a:t>DeepFace</a:t>
            </a:r>
            <a:r>
              <a:rPr lang="en-IN" sz="1600" dirty="0">
                <a:latin typeface="Times New Roman" panose="02020603050405020304" pitchFamily="18" charset="0"/>
                <a:cs typeface="Times New Roman" panose="02020603050405020304" pitchFamily="18" charset="0"/>
              </a:rPr>
              <a:t> for higher recognition accuracy. </a:t>
            </a:r>
          </a:p>
          <a:p>
            <a:pPr marL="28575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Advanced Liveness Detection</a:t>
            </a:r>
            <a:endParaRPr lang="en-IN" sz="1600" dirty="0">
              <a:latin typeface="Times New Roman" panose="02020603050405020304" pitchFamily="18" charset="0"/>
              <a:cs typeface="Times New Roman" panose="02020603050405020304" pitchFamily="18" charset="0"/>
            </a:endParaRPr>
          </a:p>
          <a:p>
            <a:pPr lvl="1" algn="just">
              <a:lnSpc>
                <a:spcPct val="150000"/>
              </a:lnSpc>
            </a:pPr>
            <a:r>
              <a:rPr lang="en-IN" sz="1600" dirty="0">
                <a:latin typeface="Times New Roman" panose="02020603050405020304" pitchFamily="18" charset="0"/>
                <a:cs typeface="Times New Roman" panose="02020603050405020304" pitchFamily="18" charset="0"/>
              </a:rPr>
              <a:t>Implement eye blink and head movement detection.  </a:t>
            </a:r>
          </a:p>
          <a:p>
            <a:pPr marL="28575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Cloud-Based Database Integration</a:t>
            </a:r>
            <a:endParaRPr lang="en-IN" sz="1600" dirty="0">
              <a:latin typeface="Times New Roman" panose="02020603050405020304" pitchFamily="18" charset="0"/>
              <a:cs typeface="Times New Roman" panose="02020603050405020304" pitchFamily="18" charset="0"/>
            </a:endParaRPr>
          </a:p>
          <a:p>
            <a:pPr lvl="1" algn="just">
              <a:lnSpc>
                <a:spcPct val="150000"/>
              </a:lnSpc>
            </a:pPr>
            <a:r>
              <a:rPr lang="en-IN" sz="1600" dirty="0">
                <a:latin typeface="Times New Roman" panose="02020603050405020304" pitchFamily="18" charset="0"/>
                <a:cs typeface="Times New Roman" panose="02020603050405020304" pitchFamily="18" charset="0"/>
              </a:rPr>
              <a:t>Store attendance records securely on cloud servers. </a:t>
            </a:r>
          </a:p>
          <a:p>
            <a:pPr marL="28575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Mobile Application Development</a:t>
            </a:r>
            <a:endParaRPr lang="en-IN" sz="1600" dirty="0">
              <a:latin typeface="Times New Roman" panose="02020603050405020304" pitchFamily="18" charset="0"/>
              <a:cs typeface="Times New Roman" panose="02020603050405020304" pitchFamily="18" charset="0"/>
            </a:endParaRPr>
          </a:p>
          <a:p>
            <a:pPr lvl="1" algn="just">
              <a:lnSpc>
                <a:spcPct val="150000"/>
              </a:lnSpc>
            </a:pPr>
            <a:r>
              <a:rPr lang="en-IN" sz="1600" dirty="0">
                <a:latin typeface="Times New Roman" panose="02020603050405020304" pitchFamily="18" charset="0"/>
                <a:cs typeface="Times New Roman" panose="02020603050405020304" pitchFamily="18" charset="0"/>
              </a:rPr>
              <a:t>Develop Android/iOS applications for attendance monitoring. </a:t>
            </a:r>
          </a:p>
          <a:p>
            <a:pPr marL="28575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AI-Based Defaulter Prediction</a:t>
            </a:r>
            <a:endParaRPr lang="en-IN" sz="1600" dirty="0">
              <a:latin typeface="Times New Roman" panose="02020603050405020304" pitchFamily="18" charset="0"/>
              <a:cs typeface="Times New Roman" panose="02020603050405020304" pitchFamily="18" charset="0"/>
            </a:endParaRPr>
          </a:p>
          <a:p>
            <a:pPr lvl="1" algn="just">
              <a:lnSpc>
                <a:spcPct val="150000"/>
              </a:lnSpc>
            </a:pPr>
            <a:r>
              <a:rPr lang="en-IN" sz="1600" dirty="0">
                <a:latin typeface="Times New Roman" panose="02020603050405020304" pitchFamily="18" charset="0"/>
                <a:cs typeface="Times New Roman" panose="02020603050405020304" pitchFamily="18" charset="0"/>
              </a:rPr>
              <a:t>Use Machine Learning to identify students at risk of low attendance. </a:t>
            </a:r>
          </a:p>
          <a:p>
            <a:pPr marL="285750" indent="-28575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ERP &amp; LMS Integration</a:t>
            </a:r>
            <a:endParaRPr lang="en-IN" sz="1600" dirty="0">
              <a:latin typeface="Times New Roman" panose="02020603050405020304" pitchFamily="18" charset="0"/>
              <a:cs typeface="Times New Roman" panose="02020603050405020304" pitchFamily="18" charset="0"/>
            </a:endParaRPr>
          </a:p>
          <a:p>
            <a:pPr lvl="1" algn="just">
              <a:lnSpc>
                <a:spcPct val="150000"/>
              </a:lnSpc>
            </a:pPr>
            <a:r>
              <a:rPr lang="en-IN" sz="1600" dirty="0">
                <a:latin typeface="Times New Roman" panose="02020603050405020304" pitchFamily="18" charset="0"/>
                <a:cs typeface="Times New Roman" panose="02020603050405020304" pitchFamily="18" charset="0"/>
              </a:rPr>
              <a:t>Integrate with College ERP and Learning Management Systems.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C22225-2979-3A13-D93B-58E2DA854E69}"/>
              </a:ext>
            </a:extLst>
          </p:cNvPr>
          <p:cNvSpPr txBox="1"/>
          <p:nvPr/>
        </p:nvSpPr>
        <p:spPr>
          <a:xfrm>
            <a:off x="3329090" y="196644"/>
            <a:ext cx="5530644" cy="523220"/>
          </a:xfrm>
          <a:prstGeom prst="rect">
            <a:avLst/>
          </a:prstGeom>
          <a:noFill/>
        </p:spPr>
        <p:txBody>
          <a:bodyPr wrap="square" rtlCol="0">
            <a:spAutoFit/>
          </a:bodyPr>
          <a:lstStyle/>
          <a:p>
            <a:pPr algn="ctr"/>
            <a:r>
              <a:rPr lang="en-IN" sz="2800" b="1" u="sng" dirty="0">
                <a:solidFill>
                  <a:srgbClr val="002060"/>
                </a:solidFill>
                <a:latin typeface="Times New Roman" panose="02020603050405020304" pitchFamily="18" charset="0"/>
                <a:cs typeface="Times New Roman" panose="02020603050405020304" pitchFamily="18" charset="0"/>
              </a:rPr>
              <a:t>LITERATURE REVIEW</a:t>
            </a:r>
          </a:p>
        </p:txBody>
      </p:sp>
      <p:graphicFrame>
        <p:nvGraphicFramePr>
          <p:cNvPr id="7" name="Table 6">
            <a:extLst>
              <a:ext uri="{FF2B5EF4-FFF2-40B4-BE49-F238E27FC236}">
                <a16:creationId xmlns:a16="http://schemas.microsoft.com/office/drawing/2014/main" id="{CCD7EF15-3F13-483E-2E0D-BD4F5C9E1EA6}"/>
              </a:ext>
            </a:extLst>
          </p:cNvPr>
          <p:cNvGraphicFramePr>
            <a:graphicFrameLocks noGrp="1"/>
          </p:cNvGraphicFramePr>
          <p:nvPr>
            <p:extLst>
              <p:ext uri="{D42A27DB-BD31-4B8C-83A1-F6EECF244321}">
                <p14:modId xmlns:p14="http://schemas.microsoft.com/office/powerpoint/2010/main" val="35635056"/>
              </p:ext>
            </p:extLst>
          </p:nvPr>
        </p:nvGraphicFramePr>
        <p:xfrm>
          <a:off x="212818" y="953068"/>
          <a:ext cx="11763188" cy="5813073"/>
        </p:xfrm>
        <a:graphic>
          <a:graphicData uri="http://schemas.openxmlformats.org/drawingml/2006/table">
            <a:tbl>
              <a:tblPr firstRow="1" bandRow="1">
                <a:tableStyleId>{5C22544A-7EE6-4342-B048-85BDC9FD1C3A}</a:tableStyleId>
              </a:tblPr>
              <a:tblGrid>
                <a:gridCol w="2940797">
                  <a:extLst>
                    <a:ext uri="{9D8B030D-6E8A-4147-A177-3AD203B41FA5}">
                      <a16:colId xmlns:a16="http://schemas.microsoft.com/office/drawing/2014/main" val="615282795"/>
                    </a:ext>
                  </a:extLst>
                </a:gridCol>
                <a:gridCol w="2940797">
                  <a:extLst>
                    <a:ext uri="{9D8B030D-6E8A-4147-A177-3AD203B41FA5}">
                      <a16:colId xmlns:a16="http://schemas.microsoft.com/office/drawing/2014/main" val="1658756625"/>
                    </a:ext>
                  </a:extLst>
                </a:gridCol>
                <a:gridCol w="2940797">
                  <a:extLst>
                    <a:ext uri="{9D8B030D-6E8A-4147-A177-3AD203B41FA5}">
                      <a16:colId xmlns:a16="http://schemas.microsoft.com/office/drawing/2014/main" val="2152643102"/>
                    </a:ext>
                  </a:extLst>
                </a:gridCol>
                <a:gridCol w="2940797">
                  <a:extLst>
                    <a:ext uri="{9D8B030D-6E8A-4147-A177-3AD203B41FA5}">
                      <a16:colId xmlns:a16="http://schemas.microsoft.com/office/drawing/2014/main" val="3887894392"/>
                    </a:ext>
                  </a:extLst>
                </a:gridCol>
              </a:tblGrid>
              <a:tr h="297463">
                <a:tc>
                  <a:txBody>
                    <a:bodyPr/>
                    <a:lstStyle/>
                    <a:p>
                      <a:pPr>
                        <a:buNone/>
                      </a:pPr>
                      <a:r>
                        <a:rPr lang="en-IN" sz="1600" dirty="0" err="1">
                          <a:latin typeface="Times New Roman" panose="02020603050405020304" pitchFamily="18" charset="0"/>
                          <a:cs typeface="Times New Roman" panose="02020603050405020304" pitchFamily="18" charset="0"/>
                        </a:rPr>
                        <a:t>S.No</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latin typeface="Times New Roman" panose="02020603050405020304" pitchFamily="18" charset="0"/>
                          <a:cs typeface="Times New Roman" panose="02020603050405020304" pitchFamily="18" charset="0"/>
                        </a:rPr>
                        <a:t>Author(s) &amp; Year</a:t>
                      </a:r>
                    </a:p>
                  </a:txBody>
                  <a:tcPr anchor="ctr"/>
                </a:tc>
                <a:tc>
                  <a:txBody>
                    <a:bodyPr/>
                    <a:lstStyle/>
                    <a:p>
                      <a:pPr>
                        <a:buNone/>
                      </a:pPr>
                      <a:r>
                        <a:rPr lang="en-IN" sz="1600">
                          <a:latin typeface="Times New Roman" panose="02020603050405020304" pitchFamily="18" charset="0"/>
                          <a:cs typeface="Times New Roman" panose="02020603050405020304" pitchFamily="18" charset="0"/>
                        </a:rPr>
                        <a:t>Title</a:t>
                      </a:r>
                    </a:p>
                  </a:txBody>
                  <a:tcPr anchor="ctr"/>
                </a:tc>
                <a:tc>
                  <a:txBody>
                    <a:bodyPr/>
                    <a:lstStyle/>
                    <a:p>
                      <a:pPr>
                        <a:buNone/>
                      </a:pPr>
                      <a:r>
                        <a:rPr lang="en-IN" sz="1600">
                          <a:latin typeface="Times New Roman" panose="02020603050405020304" pitchFamily="18" charset="0"/>
                          <a:cs typeface="Times New Roman" panose="02020603050405020304" pitchFamily="18" charset="0"/>
                        </a:rPr>
                        <a:t>Key Contribution</a:t>
                      </a:r>
                    </a:p>
                  </a:txBody>
                  <a:tcPr anchor="ctr"/>
                </a:tc>
                <a:extLst>
                  <a:ext uri="{0D108BD9-81ED-4DB2-BD59-A6C34878D82A}">
                    <a16:rowId xmlns:a16="http://schemas.microsoft.com/office/drawing/2014/main" val="396942167"/>
                  </a:ext>
                </a:extLst>
              </a:tr>
              <a:tr h="1189850">
                <a:tc>
                  <a:txBody>
                    <a:bodyPr/>
                    <a:lstStyle/>
                    <a:p>
                      <a:pPr>
                        <a:buNone/>
                      </a:pPr>
                      <a:r>
                        <a:rPr lang="en-IN" sz="1600" dirty="0">
                          <a:latin typeface="Times New Roman" panose="02020603050405020304" pitchFamily="18" charset="0"/>
                          <a:cs typeface="Times New Roman" panose="02020603050405020304" pitchFamily="18" charset="0"/>
                        </a:rPr>
                        <a:t>1</a:t>
                      </a:r>
                    </a:p>
                  </a:txBody>
                  <a:tcPr anchor="ctr"/>
                </a:tc>
                <a:tc>
                  <a:txBody>
                    <a:bodyPr/>
                    <a:lstStyle/>
                    <a:p>
                      <a:pPr>
                        <a:buNone/>
                      </a:pPr>
                      <a:r>
                        <a:rPr lang="en-IN" sz="1600" b="1">
                          <a:latin typeface="Times New Roman" panose="02020603050405020304" pitchFamily="18" charset="0"/>
                          <a:cs typeface="Times New Roman" panose="02020603050405020304" pitchFamily="18" charset="0"/>
                        </a:rPr>
                        <a:t>Anilkumar et al. (2023)</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latin typeface="Times New Roman" panose="02020603050405020304" pitchFamily="18" charset="0"/>
                          <a:cs typeface="Times New Roman" panose="02020603050405020304" pitchFamily="18" charset="0"/>
                        </a:rPr>
                        <a:t>Smart Attendance System with Face Recognition using OpenCV</a:t>
                      </a:r>
                    </a:p>
                  </a:txBody>
                  <a:tcPr anchor="ctr"/>
                </a:tc>
                <a:tc>
                  <a:txBody>
                    <a:bodyPr/>
                    <a:lstStyle/>
                    <a:p>
                      <a:pPr>
                        <a:buNone/>
                      </a:pPr>
                      <a:r>
                        <a:rPr lang="en-IN" sz="1600">
                          <a:latin typeface="Times New Roman" panose="02020603050405020304" pitchFamily="18" charset="0"/>
                          <a:cs typeface="Times New Roman" panose="02020603050405020304" pitchFamily="18" charset="0"/>
                        </a:rPr>
                        <a:t>Developed an automated attendance system using OpenCV face recognition to improve accuracy and reduce manual effort.</a:t>
                      </a:r>
                    </a:p>
                  </a:txBody>
                  <a:tcPr anchor="ctr"/>
                </a:tc>
                <a:extLst>
                  <a:ext uri="{0D108BD9-81ED-4DB2-BD59-A6C34878D82A}">
                    <a16:rowId xmlns:a16="http://schemas.microsoft.com/office/drawing/2014/main" val="3501582878"/>
                  </a:ext>
                </a:extLst>
              </a:tr>
              <a:tr h="966753">
                <a:tc>
                  <a:txBody>
                    <a:bodyPr/>
                    <a:lstStyle/>
                    <a:p>
                      <a:pPr>
                        <a:buNone/>
                      </a:pPr>
                      <a:r>
                        <a:rPr lang="en-IN" sz="1600">
                          <a:latin typeface="Times New Roman" panose="02020603050405020304" pitchFamily="18" charset="0"/>
                          <a:cs typeface="Times New Roman" panose="02020603050405020304" pitchFamily="18" charset="0"/>
                        </a:rPr>
                        <a:t>2</a:t>
                      </a: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E. K. &amp; S. U. (2024)</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latin typeface="Times New Roman" panose="02020603050405020304" pitchFamily="18" charset="0"/>
                          <a:cs typeface="Times New Roman" panose="02020603050405020304" pitchFamily="18" charset="0"/>
                        </a:rPr>
                        <a:t>Students' Attendance Management Using Azure Cognitive Service and OpenCV</a:t>
                      </a:r>
                    </a:p>
                  </a:txBody>
                  <a:tcPr anchor="ctr"/>
                </a:tc>
                <a:tc>
                  <a:txBody>
                    <a:bodyPr/>
                    <a:lstStyle/>
                    <a:p>
                      <a:pPr>
                        <a:buNone/>
                      </a:pPr>
                      <a:r>
                        <a:rPr lang="en-IN" sz="1600">
                          <a:latin typeface="Times New Roman" panose="02020603050405020304" pitchFamily="18" charset="0"/>
                          <a:cs typeface="Times New Roman" panose="02020603050405020304" pitchFamily="18" charset="0"/>
                        </a:rPr>
                        <a:t>Integrated cloud-based facial recognition with attendance management for secure and automated tracking.</a:t>
                      </a:r>
                    </a:p>
                  </a:txBody>
                  <a:tcPr anchor="ctr"/>
                </a:tc>
                <a:extLst>
                  <a:ext uri="{0D108BD9-81ED-4DB2-BD59-A6C34878D82A}">
                    <a16:rowId xmlns:a16="http://schemas.microsoft.com/office/drawing/2014/main" val="1619011412"/>
                  </a:ext>
                </a:extLst>
              </a:tr>
              <a:tr h="966753">
                <a:tc>
                  <a:txBody>
                    <a:bodyPr/>
                    <a:lstStyle/>
                    <a:p>
                      <a:pPr>
                        <a:buNone/>
                      </a:pPr>
                      <a:r>
                        <a:rPr lang="en-IN" sz="1600">
                          <a:latin typeface="Times New Roman" panose="02020603050405020304" pitchFamily="18" charset="0"/>
                          <a:cs typeface="Times New Roman" panose="02020603050405020304" pitchFamily="18" charset="0"/>
                        </a:rPr>
                        <a:t>3</a:t>
                      </a:r>
                    </a:p>
                  </a:txBody>
                  <a:tcPr anchor="ctr"/>
                </a:tc>
                <a:tc>
                  <a:txBody>
                    <a:bodyPr/>
                    <a:lstStyle/>
                    <a:p>
                      <a:pPr>
                        <a:buNone/>
                      </a:pPr>
                      <a:r>
                        <a:rPr lang="en-IN" sz="1600" b="1">
                          <a:latin typeface="Times New Roman" panose="02020603050405020304" pitchFamily="18" charset="0"/>
                          <a:cs typeface="Times New Roman" panose="02020603050405020304" pitchFamily="18" charset="0"/>
                        </a:rPr>
                        <a:t>Patil et al. (2024)</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latin typeface="Times New Roman" panose="02020603050405020304" pitchFamily="18" charset="0"/>
                          <a:cs typeface="Times New Roman" panose="02020603050405020304" pitchFamily="18" charset="0"/>
                        </a:rPr>
                        <a:t>Face Recognition Based Automatic Attendance System Using OpenCV, LBPH, and CNN</a:t>
                      </a:r>
                    </a:p>
                  </a:txBody>
                  <a:tcPr anchor="ctr"/>
                </a:tc>
                <a:tc>
                  <a:txBody>
                    <a:bodyPr/>
                    <a:lstStyle/>
                    <a:p>
                      <a:pPr>
                        <a:buNone/>
                      </a:pPr>
                      <a:r>
                        <a:rPr lang="en-IN" sz="1600">
                          <a:latin typeface="Times New Roman" panose="02020603050405020304" pitchFamily="18" charset="0"/>
                          <a:cs typeface="Times New Roman" panose="02020603050405020304" pitchFamily="18" charset="0"/>
                        </a:rPr>
                        <a:t>Combined LBPH and CNN techniques to achieve higher face recognition accuracy in attendance systems.</a:t>
                      </a:r>
                    </a:p>
                  </a:txBody>
                  <a:tcPr anchor="ctr"/>
                </a:tc>
                <a:extLst>
                  <a:ext uri="{0D108BD9-81ED-4DB2-BD59-A6C34878D82A}">
                    <a16:rowId xmlns:a16="http://schemas.microsoft.com/office/drawing/2014/main" val="2805481477"/>
                  </a:ext>
                </a:extLst>
              </a:tr>
              <a:tr h="966753">
                <a:tc>
                  <a:txBody>
                    <a:bodyPr/>
                    <a:lstStyle/>
                    <a:p>
                      <a:pPr>
                        <a:buNone/>
                      </a:pPr>
                      <a:r>
                        <a:rPr lang="en-IN" sz="1600">
                          <a:latin typeface="Times New Roman" panose="02020603050405020304" pitchFamily="18" charset="0"/>
                          <a:cs typeface="Times New Roman" panose="02020603050405020304" pitchFamily="18" charset="0"/>
                        </a:rPr>
                        <a:t>4</a:t>
                      </a:r>
                    </a:p>
                  </a:txBody>
                  <a:tcPr anchor="ctr"/>
                </a:tc>
                <a:tc>
                  <a:txBody>
                    <a:bodyPr/>
                    <a:lstStyle/>
                    <a:p>
                      <a:pPr>
                        <a:buNone/>
                      </a:pPr>
                      <a:r>
                        <a:rPr lang="en-IN" sz="1600" b="1">
                          <a:latin typeface="Times New Roman" panose="02020603050405020304" pitchFamily="18" charset="0"/>
                          <a:cs typeface="Times New Roman" panose="02020603050405020304" pitchFamily="18" charset="0"/>
                        </a:rPr>
                        <a:t>Gawate &amp; Dhote (2024)</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latin typeface="Times New Roman" panose="02020603050405020304" pitchFamily="18" charset="0"/>
                          <a:cs typeface="Times New Roman" panose="02020603050405020304" pitchFamily="18" charset="0"/>
                        </a:rPr>
                        <a:t>Real-Time Attendance System with Liveness Detection and Multi-Face Recognition</a:t>
                      </a:r>
                    </a:p>
                  </a:txBody>
                  <a:tcPr anchor="ctr"/>
                </a:tc>
                <a:tc>
                  <a:txBody>
                    <a:bodyPr/>
                    <a:lstStyle/>
                    <a:p>
                      <a:pPr>
                        <a:buNone/>
                      </a:pPr>
                      <a:r>
                        <a:rPr lang="en-IN" sz="1600">
                          <a:latin typeface="Times New Roman" panose="02020603050405020304" pitchFamily="18" charset="0"/>
                          <a:cs typeface="Times New Roman" panose="02020603050405020304" pitchFamily="18" charset="0"/>
                        </a:rPr>
                        <a:t>Introduced liveness detection to prevent proxy attendance and improve system security.</a:t>
                      </a:r>
                    </a:p>
                  </a:txBody>
                  <a:tcPr anchor="ctr"/>
                </a:tc>
                <a:extLst>
                  <a:ext uri="{0D108BD9-81ED-4DB2-BD59-A6C34878D82A}">
                    <a16:rowId xmlns:a16="http://schemas.microsoft.com/office/drawing/2014/main" val="3779934410"/>
                  </a:ext>
                </a:extLst>
              </a:tr>
              <a:tr h="966753">
                <a:tc>
                  <a:txBody>
                    <a:bodyPr/>
                    <a:lstStyle/>
                    <a:p>
                      <a:pPr>
                        <a:buNone/>
                      </a:pPr>
                      <a:r>
                        <a:rPr lang="en-IN" sz="1600">
                          <a:latin typeface="Times New Roman" panose="02020603050405020304" pitchFamily="18" charset="0"/>
                          <a:cs typeface="Times New Roman" panose="02020603050405020304" pitchFamily="18" charset="0"/>
                        </a:rPr>
                        <a:t>5</a:t>
                      </a:r>
                    </a:p>
                  </a:txBody>
                  <a:tcPr anchor="ctr"/>
                </a:tc>
                <a:tc>
                  <a:txBody>
                    <a:bodyPr/>
                    <a:lstStyle/>
                    <a:p>
                      <a:pPr>
                        <a:buNone/>
                      </a:pPr>
                      <a:r>
                        <a:rPr lang="en-IN" sz="1600" b="1">
                          <a:latin typeface="Times New Roman" panose="02020603050405020304" pitchFamily="18" charset="0"/>
                          <a:cs typeface="Times New Roman" panose="02020603050405020304" pitchFamily="18" charset="0"/>
                        </a:rPr>
                        <a:t>Mridha &amp; Yousef (2021)</a:t>
                      </a:r>
                      <a:endParaRPr lang="en-IN" sz="1600">
                        <a:latin typeface="Times New Roman" panose="02020603050405020304" pitchFamily="18" charset="0"/>
                        <a:cs typeface="Times New Roman" panose="02020603050405020304" pitchFamily="18" charset="0"/>
                      </a:endParaRPr>
                    </a:p>
                  </a:txBody>
                  <a:tcPr anchor="ctr"/>
                </a:tc>
                <a:tc>
                  <a:txBody>
                    <a:bodyPr/>
                    <a:lstStyle/>
                    <a:p>
                      <a:pPr>
                        <a:buNone/>
                      </a:pPr>
                      <a:r>
                        <a:rPr lang="en-IN" sz="1600">
                          <a:latin typeface="Times New Roman" panose="02020603050405020304" pitchFamily="18" charset="0"/>
                          <a:cs typeface="Times New Roman" panose="02020603050405020304" pitchFamily="18" charset="0"/>
                        </a:rPr>
                        <a:t>Smart Attendance Management System Based on Face Recognition Using OpenCV and ML</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Demonstrated how machine learning and OpenCV can automate attendance while reducing human errors.</a:t>
                      </a:r>
                    </a:p>
                  </a:txBody>
                  <a:tcPr anchor="ctr"/>
                </a:tc>
                <a:extLst>
                  <a:ext uri="{0D108BD9-81ED-4DB2-BD59-A6C34878D82A}">
                    <a16:rowId xmlns:a16="http://schemas.microsoft.com/office/drawing/2014/main" val="3843705666"/>
                  </a:ext>
                </a:extLst>
              </a:tr>
            </a:tbl>
          </a:graphicData>
        </a:graphic>
      </p:graphicFrame>
    </p:spTree>
    <p:extLst>
      <p:ext uri="{BB962C8B-B14F-4D97-AF65-F5344CB8AC3E}">
        <p14:creationId xmlns:p14="http://schemas.microsoft.com/office/powerpoint/2010/main" val="15026874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img0.png"/>
          <p:cNvPicPr>
            <a:picLocks noChangeAspect="1"/>
          </p:cNvPicPr>
          <p:nvPr/>
        </p:nvPicPr>
        <p:blipFill>
          <a:blip r:embed="rId2"/>
          <a:stretch>
            <a:fillRect/>
          </a:stretch>
        </p:blipFill>
        <p:spPr>
          <a:xfrm>
            <a:off x="1417320" y="265176"/>
            <a:ext cx="9354312" cy="1014984"/>
          </a:xfrm>
          <a:prstGeom prst="rect">
            <a:avLst/>
          </a:prstGeom>
        </p:spPr>
      </p:pic>
      <p:sp>
        <p:nvSpPr>
          <p:cNvPr id="3" name="TextBox 2"/>
          <p:cNvSpPr txBox="1"/>
          <p:nvPr/>
        </p:nvSpPr>
        <p:spPr>
          <a:xfrm>
            <a:off x="237744" y="1417320"/>
            <a:ext cx="11704320" cy="640080"/>
          </a:xfrm>
          <a:prstGeom prst="rect">
            <a:avLst/>
          </a:prstGeom>
          <a:noFill/>
        </p:spPr>
        <p:txBody>
          <a:bodyPr wrap="square">
            <a:spAutoFit/>
          </a:bodyPr>
          <a:lstStyle/>
          <a:p>
            <a:pPr algn="ctr"/>
            <a:r>
              <a:rPr sz="2800" b="1" u="sng">
                <a:solidFill>
                  <a:srgbClr val="1A3C6E"/>
                </a:solidFill>
                <a:latin typeface="Times New Roman"/>
              </a:rPr>
              <a:t>REFERENCES</a:t>
            </a:r>
          </a:p>
        </p:txBody>
      </p:sp>
      <p:sp>
        <p:nvSpPr>
          <p:cNvPr id="4" name="TextBox 3"/>
          <p:cNvSpPr txBox="1"/>
          <p:nvPr/>
        </p:nvSpPr>
        <p:spPr>
          <a:xfrm>
            <a:off x="457200" y="2194560"/>
            <a:ext cx="11247120" cy="3923510"/>
          </a:xfrm>
          <a:prstGeom prst="rect">
            <a:avLst/>
          </a:prstGeom>
          <a:noFill/>
        </p:spPr>
        <p:txBody>
          <a:bodyPr wrap="square">
            <a:spAutoFit/>
          </a:bodyPr>
          <a:lstStyle/>
          <a:p>
            <a:pPr>
              <a:lnSpc>
                <a:spcPts val="2000"/>
              </a:lnSpc>
              <a:spcAft>
                <a:spcPts val="1000"/>
              </a:spcAft>
            </a:pPr>
            <a:r>
              <a:rPr sz="1600" dirty="0">
                <a:solidFill>
                  <a:srgbClr val="2B4262"/>
                </a:solidFill>
                <a:latin typeface="Times New Roman"/>
              </a:rPr>
              <a:t>[1] C. Anilkumar, B. Venkatesh, S. Annapoorna, "Smart Attendance System with Face Recognition using OpenCV," 2023 Second International Conference on Augmented Intelligence and Sustainable Systems (ICAISS), pp. 1149-1155, 2023.</a:t>
            </a:r>
          </a:p>
          <a:p>
            <a:pPr>
              <a:lnSpc>
                <a:spcPts val="2000"/>
              </a:lnSpc>
              <a:spcAft>
                <a:spcPts val="1000"/>
              </a:spcAft>
            </a:pPr>
            <a:r>
              <a:rPr sz="1600" dirty="0">
                <a:solidFill>
                  <a:srgbClr val="2B4262"/>
                </a:solidFill>
                <a:latin typeface="Times New Roman"/>
              </a:rPr>
              <a:t>[2] E. K., S. U., "Students’ Attendance Management in Higher Institutions Using Azure Cognitive Service and </a:t>
            </a:r>
            <a:r>
              <a:rPr sz="1600" dirty="0" err="1">
                <a:solidFill>
                  <a:srgbClr val="2B4262"/>
                </a:solidFill>
                <a:latin typeface="Times New Roman"/>
              </a:rPr>
              <a:t>Opencv</a:t>
            </a:r>
            <a:r>
              <a:rPr sz="1600" dirty="0">
                <a:solidFill>
                  <a:srgbClr val="2B4262"/>
                </a:solidFill>
                <a:latin typeface="Times New Roman"/>
              </a:rPr>
              <a:t> Face Detection &amp;amp; Recognition Attendance System," British Journal of Computer, Networking and Information Technology, vol. 5, no. 1, pp. 43-55, 2024.</a:t>
            </a:r>
          </a:p>
          <a:p>
            <a:pPr>
              <a:lnSpc>
                <a:spcPts val="2000"/>
              </a:lnSpc>
              <a:spcAft>
                <a:spcPts val="1000"/>
              </a:spcAft>
            </a:pPr>
            <a:r>
              <a:rPr sz="1600" dirty="0">
                <a:solidFill>
                  <a:srgbClr val="2B4262"/>
                </a:solidFill>
                <a:latin typeface="Times New Roman"/>
              </a:rPr>
              <a:t>[3] P. Patil, Y. Marne, D. Mane et al., "Face Recognition Based Automatic Attendance System Using OpenCV, LBPH, and Convolutional Neural Network," International Journal of Research Publication and Reviews, vol. 7, no. 4, pp. 10585-10591, 2024.</a:t>
            </a:r>
          </a:p>
          <a:p>
            <a:pPr>
              <a:lnSpc>
                <a:spcPts val="2000"/>
              </a:lnSpc>
              <a:spcAft>
                <a:spcPts val="1000"/>
              </a:spcAft>
            </a:pPr>
            <a:r>
              <a:rPr sz="1600" dirty="0">
                <a:solidFill>
                  <a:srgbClr val="2B4262"/>
                </a:solidFill>
                <a:latin typeface="Times New Roman"/>
              </a:rPr>
              <a:t>[4] E. </a:t>
            </a:r>
            <a:r>
              <a:rPr sz="1600" dirty="0" err="1">
                <a:solidFill>
                  <a:srgbClr val="2B4262"/>
                </a:solidFill>
                <a:latin typeface="Times New Roman"/>
              </a:rPr>
              <a:t>Gawate</a:t>
            </a:r>
            <a:r>
              <a:rPr sz="1600" dirty="0">
                <a:solidFill>
                  <a:srgbClr val="2B4262"/>
                </a:solidFill>
                <a:latin typeface="Times New Roman"/>
              </a:rPr>
              <a:t>, K. Dhote, "Real-Time Attendance System with Liveness Detection and Multi-Face Recognition using Transfer Learning," 2024 15th International Conference on Computing Communication and Networking Technologies (ICCCNT), pp. 1-5, 2024.</a:t>
            </a:r>
          </a:p>
          <a:p>
            <a:pPr>
              <a:lnSpc>
                <a:spcPts val="2000"/>
              </a:lnSpc>
              <a:spcAft>
                <a:spcPts val="1000"/>
              </a:spcAft>
            </a:pPr>
            <a:r>
              <a:rPr sz="1600" dirty="0">
                <a:solidFill>
                  <a:srgbClr val="2B4262"/>
                </a:solidFill>
                <a:latin typeface="Times New Roman"/>
              </a:rPr>
              <a:t>[5] K. </a:t>
            </a:r>
            <a:r>
              <a:rPr sz="1600" dirty="0" err="1">
                <a:solidFill>
                  <a:srgbClr val="2B4262"/>
                </a:solidFill>
                <a:latin typeface="Times New Roman"/>
              </a:rPr>
              <a:t>Mridha</a:t>
            </a:r>
            <a:r>
              <a:rPr sz="1600" dirty="0">
                <a:solidFill>
                  <a:srgbClr val="2B4262"/>
                </a:solidFill>
                <a:latin typeface="Times New Roman"/>
              </a:rPr>
              <a:t>, N. T. Yousef, "Study and Analysis of Implementing a Smart Attendance Management System Based on Face Recognition </a:t>
            </a:r>
            <a:r>
              <a:rPr sz="1600" dirty="0" err="1">
                <a:solidFill>
                  <a:srgbClr val="2B4262"/>
                </a:solidFill>
                <a:latin typeface="Times New Roman"/>
              </a:rPr>
              <a:t>Tecqnique</a:t>
            </a:r>
            <a:r>
              <a:rPr sz="1600" dirty="0">
                <a:solidFill>
                  <a:srgbClr val="2B4262"/>
                </a:solidFill>
                <a:latin typeface="Times New Roman"/>
              </a:rPr>
              <a:t> using OpenCV and Machine Learning," 2021 10th IEEE International Conference on Communication Systems and Network Technologies (CSNT), pp. 654-659, 2021.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img0.png"/>
          <p:cNvPicPr>
            <a:picLocks noChangeAspect="1"/>
          </p:cNvPicPr>
          <p:nvPr/>
        </p:nvPicPr>
        <p:blipFill>
          <a:blip r:embed="rId2"/>
          <a:stretch>
            <a:fillRect/>
          </a:stretch>
        </p:blipFill>
        <p:spPr>
          <a:xfrm>
            <a:off x="1417320" y="265176"/>
            <a:ext cx="9354312" cy="1014984"/>
          </a:xfrm>
          <a:prstGeom prst="rect">
            <a:avLst/>
          </a:prstGeom>
        </p:spPr>
      </p:pic>
      <p:sp>
        <p:nvSpPr>
          <p:cNvPr id="3" name="TextBox 2"/>
          <p:cNvSpPr txBox="1"/>
          <p:nvPr/>
        </p:nvSpPr>
        <p:spPr>
          <a:xfrm>
            <a:off x="4124417" y="2743200"/>
            <a:ext cx="3940118" cy="830997"/>
          </a:xfrm>
          <a:prstGeom prst="rect">
            <a:avLst/>
          </a:prstGeom>
          <a:noFill/>
        </p:spPr>
        <p:txBody>
          <a:bodyPr wrap="none">
            <a:spAutoFit/>
          </a:bodyPr>
          <a:lstStyle/>
          <a:p>
            <a:pPr algn="ctr"/>
            <a:r>
              <a:rPr sz="4800" b="1" dirty="0">
                <a:solidFill>
                  <a:srgbClr val="1A3C6E"/>
                </a:solidFill>
                <a:latin typeface="Times New Rom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185</TotalTime>
  <Words>2164</Words>
  <Application>Microsoft Office PowerPoint</Application>
  <PresentationFormat>Custom</PresentationFormat>
  <Paragraphs>181</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Emad Farooqui</cp:lastModifiedBy>
  <cp:revision>7</cp:revision>
  <dcterms:created xsi:type="dcterms:W3CDTF">2013-01-27T09:14:16Z</dcterms:created>
  <dcterms:modified xsi:type="dcterms:W3CDTF">2026-06-22T08:15:30Z</dcterms:modified>
  <cp:category/>
</cp:coreProperties>
</file>